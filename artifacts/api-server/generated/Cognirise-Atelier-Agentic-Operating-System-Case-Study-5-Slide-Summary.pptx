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frame the connected operating surface and the hybrid build-versus-buy decision. Founder intent is a labeled strategic hypothesis.
SOURCE REGISTER
[1] Peng et al. (13 Feb 2023): Controlled, bounded JavaScript task; 55.8% faster completion (95% CI 21–89%). Not a whole-enterprise estimate. https://arxiv.org/abs/2302.06590
[2] Cui et al. (first posted 5 Sep 2024): Pooled 26.08% more completed tasks (SE 10.3) across 4,867 developers; heterogeneous effects and settings. Manuscript: https://ssrn.com/abstract=4945566 https://www.microsoft.com/en-us/research/publication/the-effects-of-generative-ai-on-high-skilled-work-evidence-from-three-field-experiments-with-software-developers/
[3] DORA (22 Oct 2024): Nearly 3,000 respondents; observational evidence with mixed associations, including lower delivery throughput and stability. https://dora.dev/research/2024/dora-report/
[4] METR (10 Jul 2025): Randomized study: 16 experienced maintainers, 246 issues; AI-allowed work was 19% slower. Historical tools and narrow sample limit generalization. https://metr.org/blog/2025-07-10-early-2025-ai-experienced-os-dev-study/
[5] METR (2025): Benchmark task-horizon trend roughly doubled every seven months; benchmark capability is not workplace productivity. https://metr.org/blog/2025-03-19-measuring-ai-ability-to-complete-long-tasks/
[6] Jimenez et al.; OpenAI (paper Oct 2023; Verified 13 Aug 2024): Software-engineering benchmark and human-filtered subset; measures benchmark capability, not ROI or deployment outcomes. Verified: https://openai.com/index/introducing-swe-bench-verified/ https://arxiv.org/abs/2310.06770
[7] Stanford HAI (7 Apr 2025): Inference price for GPT-3.5-level benchmark performance fell more than 280× from Nov 2022 to Oct 2024; not enterprise TCO. https://hai.stanford.edu/ai-index/2025-ai-index-report
[8] Epoch AI (3 Jun 2024): Estimated frontier training costs grew about 2.4× per year; supply-side trend, not coding-assistant cost. https://epoch.ai/publications/how-much-does-it-cost-to-train-frontier-ai-models
[9] DORA (23 Sep 2025): Mixed-method, observational framing: AI acts as an amplifier of organizational conditions; association is not causation. https://dora.dev/research/2025/dora-report/
[10] Cognirise (as of 5 Sep 2026): Implemented code and recorded chronology only. It does not establish live deployment, effort, adoption, quality, or production outcomes. 
Evidence rule: repository evidence means implemented code only; history establishes ordering/recording, not deployment or effort. Integration paths are implemented-not-proven-live.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the bet is architectural. Present positive and negative findings together; emphasize bounded tasks, heterogeneity and observational limits.
SOURCE REGISTER
[1] Peng et al. (13 Feb 2023): Controlled, bounded JavaScript task; 55.8% faster completion (95% CI 21–89%). Not a whole-enterprise estimate. https://arxiv.org/abs/2302.06590
[2] Cui et al. (first posted 5 Sep 2024): Pooled 26.08% more completed tasks (SE 10.3) across 4,867 developers; heterogeneous effects and settings. Manuscript: https://ssrn.com/abstract=4945566 https://www.microsoft.com/en-us/research/publication/the-effects-of-generative-ai-on-high-skilled-work-evidence-from-three-field-experiments-with-software-developers/
[3] DORA (22 Oct 2024): Nearly 3,000 respondents; observational evidence with mixed associations, including lower delivery throughput and stability. https://dora.dev/research/2024/dora-report/
[4] METR (10 Jul 2025): Randomized study: 16 experienced maintainers, 246 issues; AI-allowed work was 19% slower. Historical tools and narrow sample limit generalization. https://metr.org/blog/2025-07-10-early-2025-ai-experienced-os-dev-study/
[5] METR (2025): Benchmark task-horizon trend roughly doubled every seven months; benchmark capability is not workplace productivity. https://metr.org/blog/2025-03-19-measuring-ai-ability-to-complete-long-tasks/
[6] Jimenez et al.; OpenAI (paper Oct 2023; Verified 13 Aug 2024): Software-engineering benchmark and human-filtered subset; measures benchmark capability, not ROI or deployment outcomes. Verified: https://openai.com/index/introducing-swe-bench-verified/ https://arxiv.org/abs/2310.06770
[7] Stanford HAI (7 Apr 2025): Inference price for GPT-3.5-level benchmark performance fell more than 280× from Nov 2022 to Oct 2024; not enterprise TCO. https://hai.stanford.edu/ai-index/2025-ai-index-report
[8] Epoch AI (3 Jun 2024): Estimated frontier training costs grew about 2.4× per year; supply-side trend, not coding-assistant cost. https://epoch.ai/publications/how-much-does-it-cost-to-train-frontier-ai-models
[9] DORA (23 Sep 2025): Mixed-method, observational framing: AI acts as an amplifier of organizational conditions; association is not causation. https://dora.dev/research/2025/dora-report/
[10] Cognirise (as of 5 Sep 2026): Implemented code and recorded chronology only. It does not establish live deployment, effort, adoption, quality, or production outcomes. 
Evidence rule: repository evidence means implemented code only; history establishes ordering/recording, not deployment or effort. Integration paths are implemented-not-proven-live.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use the canonical eight-stage chronology. The architecture spans experience, agentic interaction, deterministic services, evidence/control and external adapters.
SOURCE REGISTER
[1] Peng et al. (13 Feb 2023): Controlled, bounded JavaScript task; 55.8% faster completion (95% CI 21–89%). Not a whole-enterprise estimate. https://arxiv.org/abs/2302.06590
[2] Cui et al. (first posted 5 Sep 2024): Pooled 26.08% more completed tasks (SE 10.3) across 4,867 developers; heterogeneous effects and settings. Manuscript: https://ssrn.com/abstract=4945566 https://www.microsoft.com/en-us/research/publication/the-effects-of-generative-ai-on-high-skilled-work-evidence-from-three-field-experiments-with-software-developers/
[3] DORA (22 Oct 2024): Nearly 3,000 respondents; observational evidence with mixed associations, including lower delivery throughput and stability. https://dora.dev/research/2024/dora-report/
[4] METR (10 Jul 2025): Randomized study: 16 experienced maintainers, 246 issues; AI-allowed work was 19% slower. Historical tools and narrow sample limit generalization. https://metr.org/blog/2025-07-10-early-2025-ai-experienced-os-dev-study/
[5] METR (2025): Benchmark task-horizon trend roughly doubled every seven months; benchmark capability is not workplace productivity. https://metr.org/blog/2025-03-19-measuring-ai-ability-to-complete-long-tasks/
[6] Jimenez et al.; OpenAI (paper Oct 2023; Verified 13 Aug 2024): Software-engineering benchmark and human-filtered subset; measures benchmark capability, not ROI or deployment outcomes. Verified: https://openai.com/index/introducing-swe-bench-verified/ https://arxiv.org/abs/2310.06770
[7] Stanford HAI (7 Apr 2025): Inference price for GPT-3.5-level benchmark performance fell more than 280× from Nov 2022 to Oct 2024; not enterprise TCO. https://hai.stanford.edu/ai-index/2025-ai-index-report
[8] Epoch AI (3 Jun 2024): Estimated frontier training costs grew about 2.4× per year; supply-side trend, not coding-assistant cost. https://epoch.ai/publications/how-much-does-it-cost-to-train-frontier-ai-models
[9] DORA (23 Sep 2025): Mixed-method, observational framing: AI acts as an amplifier of organizational conditions; association is not causation. https://dora.dev/research/2025/dora-report/
[10] Cognirise (as of 5 Sep 2026): Implemented code and recorded chronology only. It does not establish live deployment, effort, adoption, quality, or production outcomes. 
Evidence rule: repository evidence means implemented code only; history establishes ordering/recording, not deployment or effort. Integration paths are implemented-not-proven-live.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explain constituency-specific workspaces and common controls. The senior-led differentiator is a founder assertion until independently validated.
SOURCE REGISTER
[1] Peng et al. (13 Feb 2023): Controlled, bounded JavaScript task; 55.8% faster completion (95% CI 21–89%). Not a whole-enterprise estimate. https://arxiv.org/abs/2302.06590
[2] Cui et al. (first posted 5 Sep 2024): Pooled 26.08% more completed tasks (SE 10.3) across 4,867 developers; heterogeneous effects and settings. Manuscript: https://ssrn.com/abstract=4945566 https://www.microsoft.com/en-us/research/publication/the-effects-of-generative-ai-on-high-skilled-work-evidence-from-three-field-experiments-with-software-developers/
[3] DORA (22 Oct 2024): Nearly 3,000 respondents; observational evidence with mixed associations, including lower delivery throughput and stability. https://dora.dev/research/2024/dora-report/
[4] METR (10 Jul 2025): Randomized study: 16 experienced maintainers, 246 issues; AI-allowed work was 19% slower. Historical tools and narrow sample limit generalization. https://metr.org/blog/2025-07-10-early-2025-ai-experienced-os-dev-study/
[5] METR (2025): Benchmark task-horizon trend roughly doubled every seven months; benchmark capability is not workplace productivity. https://metr.org/blog/2025-03-19-measuring-ai-ability-to-complete-long-tasks/
[6] Jimenez et al.; OpenAI (paper Oct 2023; Verified 13 Aug 2024): Software-engineering benchmark and human-filtered subset; measures benchmark capability, not ROI or deployment outcomes. Verified: https://openai.com/index/introducing-swe-bench-verified/ https://arxiv.org/abs/2310.06770
[7] Stanford HAI (7 Apr 2025): Inference price for GPT-3.5-level benchmark performance fell more than 280× from Nov 2022 to Oct 2024; not enterprise TCO. https://hai.stanford.edu/ai-index/2025-ai-index-report
[8] Epoch AI (3 Jun 2024): Estimated frontier training costs grew about 2.4× per year; supply-side trend, not coding-assistant cost. https://epoch.ai/publications/how-much-does-it-cost-to-train-frontier-ai-models
[9] DORA (23 Sep 2025): Mixed-method, observational framing: AI acts as an amplifier of organizational conditions; association is not causation. https://dora.dev/research/2025/dora-report/
[10] Cognirise (as of 5 Sep 2026): Implemented code and recorded chronology only. It does not establish live deployment, effort, adoption, quality, or production outcomes. 
Evidence rule: repository evidence means implemented code only; history establishes ordering/recording, not deployment or effort. Integration paths are implemented-not-proven-live.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conclude with what is evidenced, what was learned, what remains unproven and the measurement agenda. Invite an evidence-led demo/pilot.
SOURCE REGISTER
[1] Peng et al. (13 Feb 2023): Controlled, bounded JavaScript task; 55.8% faster completion (95% CI 21–89%). Not a whole-enterprise estimate. https://arxiv.org/abs/2302.06590
[2] Cui et al. (first posted 5 Sep 2024): Pooled 26.08% more completed tasks (SE 10.3) across 4,867 developers; heterogeneous effects and settings. Manuscript: https://ssrn.com/abstract=4945566 https://www.microsoft.com/en-us/research/publication/the-effects-of-generative-ai-on-high-skilled-work-evidence-from-three-field-experiments-with-software-developers/
[3] DORA (22 Oct 2024): Nearly 3,000 respondents; observational evidence with mixed associations, including lower delivery throughput and stability. https://dora.dev/research/2024/dora-report/
[4] METR (10 Jul 2025): Randomized study: 16 experienced maintainers, 246 issues; AI-allowed work was 19% slower. Historical tools and narrow sample limit generalization. https://metr.org/blog/2025-07-10-early-2025-ai-experienced-os-dev-study/
[5] METR (2025): Benchmark task-horizon trend roughly doubled every seven months; benchmark capability is not workplace productivity. https://metr.org/blog/2025-03-19-measuring-ai-ability-to-complete-long-tasks/
[6] Jimenez et al.; OpenAI (paper Oct 2023; Verified 13 Aug 2024): Software-engineering benchmark and human-filtered subset; measures benchmark capability, not ROI or deployment outcomes. Verified: https://openai.com/index/introducing-swe-bench-verified/ https://arxiv.org/abs/2310.06770
[7] Stanford HAI (7 Apr 2025): Inference price for GPT-3.5-level benchmark performance fell more than 280× from Nov 2022 to Oct 2024; not enterprise TCO. https://hai.stanford.edu/ai-index/2025-ai-index-report
[8] Epoch AI (3 Jun 2024): Estimated frontier training costs grew about 2.4× per year; supply-side trend, not coding-assistant cost. https://epoch.ai/publications/how-much-does-it-cost-to-train-frontier-ai-models
[9] DORA (23 Sep 2025): Mixed-method, observational framing: AI acts as an amplifier of organizational conditions; association is not causation. https://dora.dev/research/2025/dora-report/
[10] Cognirise (as of 5 Sep 2026): Implemented code and recorded chronology only. It does not establish live deployment, effort, adoption, quality, or production outcomes. 
Evidence rule: repository evidence means implemented code only; history establishes ordering/recording, not deployment or effort. Integration paths are implemented-not-proven-live.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93192"/>
            <a:ext cx="603504" cy="64008"/>
          </a:xfrm>
          <a:prstGeom prst="rect">
            <a:avLst/>
          </a:prstGeom>
          <a:solidFill>
            <a:srgbClr val="3979F6"/>
          </a:solidFill>
          <a:ln w="12700">
            <a:solidFill>
              <a:srgbClr val="3979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393192"/>
            <a:ext cx="603504" cy="64008"/>
          </a:xfrm>
          <a:prstGeom prst="rect">
            <a:avLst/>
          </a:prstGeom>
          <a:solidFill>
            <a:srgbClr val="7657F6"/>
          </a:solidFill>
          <a:ln w="12700">
            <a:solidFill>
              <a:srgbClr val="7657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393192"/>
            <a:ext cx="603504" cy="64008"/>
          </a:xfrm>
          <a:prstGeom prst="rect">
            <a:avLst/>
          </a:prstGeom>
          <a:solidFill>
            <a:srgbClr val="D04CA6"/>
          </a:solidFill>
          <a:ln w="12700">
            <a:solidFill>
              <a:srgbClr val="D04C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393192"/>
            <a:ext cx="603504" cy="64008"/>
          </a:xfrm>
          <a:prstGeom prst="rect">
            <a:avLst/>
          </a:prstGeom>
          <a:solidFill>
            <a:srgbClr val="FF7262"/>
          </a:solidFill>
          <a:ln w="12700">
            <a:solidFill>
              <a:srgbClr val="FF7262">
                <a:alpha val="0"/>
              </a:srgbClr>
            </a:solidFill>
            <a:prstDash val="solid"/>
          </a:ln>
        </p:spPr>
      </p:sp>
      <p:pic>
        <p:nvPicPr>
          <p:cNvPr id="6" name="Image 0" descr="/home/runner/workspace/artifacts/cognirise-atelier/public/cognirise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20040"/>
            <a:ext cx="1572768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3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640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B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ATELIER CASE STUDY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3268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One firm. One operating spine. Three constituencies.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02920" y="15727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founding problem was not “where can we add AI?” It was how Atelier could connect demand, delivery, money and people without losing control.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148840"/>
            <a:ext cx="3529584" cy="3246120"/>
          </a:xfrm>
          <a:prstGeom prst="roundRect">
            <a:avLst>
              <a:gd name="adj" fmla="val 1690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148840"/>
            <a:ext cx="64008" cy="3246120"/>
          </a:xfrm>
          <a:prstGeom prst="rect">
            <a:avLst/>
          </a:prstGeom>
          <a:solidFill>
            <a:srgbClr val="3979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3134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FRAGMENTATION RISK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" y="2660904"/>
            <a:ext cx="3145536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→ CRM → pricing → contract → delivery → billing → cash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products can leave identity, data, approval and reporting seams.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315968" y="2148840"/>
            <a:ext cx="3529584" cy="3246120"/>
          </a:xfrm>
          <a:prstGeom prst="roundRect">
            <a:avLst>
              <a:gd name="adj" fmla="val 1690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15968" y="2148840"/>
            <a:ext cx="64008" cy="3246120"/>
          </a:xfrm>
          <a:prstGeom prst="rect">
            <a:avLst/>
          </a:prstGeom>
          <a:solidFill>
            <a:srgbClr val="D04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7136" y="23134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FOUNDING DESIGN QUESTION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17136" y="2660904"/>
            <a:ext cx="3145536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a patchwork and integrate later—or own the differentiated workflow spine while integrating commodity services?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129016" y="2148840"/>
            <a:ext cx="3529584" cy="3246120"/>
          </a:xfrm>
          <a:prstGeom prst="roundRect">
            <a:avLst>
              <a:gd name="adj" fmla="val 1690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29016" y="2148840"/>
            <a:ext cx="64008" cy="3246120"/>
          </a:xfrm>
          <a:prstGeom prst="rect">
            <a:avLst/>
          </a:prstGeom>
          <a:solidFill>
            <a:srgbClr val="FF726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30184" y="23134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NON-NEGOTIABLE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30184" y="2660904"/>
            <a:ext cx="3145536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Employees, contractors and alliance partners need shared flow with distinct rights.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Consequential math, state and approvals stay deterministic.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530352" y="5715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B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hypothesis—not a production-outcome claim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636422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F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[10] Repository/history evidence through 5 Sep 2026. No deployment, effort or production outcomes inferred.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93192"/>
            <a:ext cx="603504" cy="64008"/>
          </a:xfrm>
          <a:prstGeom prst="rect">
            <a:avLst/>
          </a:prstGeom>
          <a:solidFill>
            <a:srgbClr val="3979F6"/>
          </a:solidFill>
          <a:ln w="12700">
            <a:solidFill>
              <a:srgbClr val="3979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393192"/>
            <a:ext cx="603504" cy="64008"/>
          </a:xfrm>
          <a:prstGeom prst="rect">
            <a:avLst/>
          </a:prstGeom>
          <a:solidFill>
            <a:srgbClr val="7657F6"/>
          </a:solidFill>
          <a:ln w="12700">
            <a:solidFill>
              <a:srgbClr val="7657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393192"/>
            <a:ext cx="603504" cy="64008"/>
          </a:xfrm>
          <a:prstGeom prst="rect">
            <a:avLst/>
          </a:prstGeom>
          <a:solidFill>
            <a:srgbClr val="D04CA6"/>
          </a:solidFill>
          <a:ln w="12700">
            <a:solidFill>
              <a:srgbClr val="D04C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393192"/>
            <a:ext cx="603504" cy="64008"/>
          </a:xfrm>
          <a:prstGeom prst="rect">
            <a:avLst/>
          </a:prstGeom>
          <a:solidFill>
            <a:srgbClr val="FF7262"/>
          </a:solidFill>
          <a:ln w="12700">
            <a:solidFill>
              <a:srgbClr val="FF7262">
                <a:alpha val="0"/>
              </a:srgbClr>
            </a:solidFill>
            <a:prstDash val="solid"/>
          </a:ln>
        </p:spPr>
      </p:sp>
      <p:pic>
        <p:nvPicPr>
          <p:cNvPr id="6" name="Image 0" descr="/home/runner/workspace/artifacts/cognirise-atelier/public/cogniri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20040"/>
            <a:ext cx="1572768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640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STRATEGIC BET + EXTERNAL EVIDENCE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3268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Own the workflow and control plane; rent replaceable utilities.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02920" y="15727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evidence supports disciplined experimentation—not a universal productivity multiplier.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011680"/>
            <a:ext cx="2743200" cy="3429000"/>
          </a:xfrm>
          <a:prstGeom prst="roundRect">
            <a:avLst>
              <a:gd name="adj" fmla="val 2000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011680"/>
            <a:ext cx="64008" cy="3429000"/>
          </a:xfrm>
          <a:prstGeom prst="rect">
            <a:avLst/>
          </a:prstGeom>
          <a:solidFill>
            <a:srgbClr val="7657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THE BET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" y="2523744"/>
            <a:ext cx="2359152" cy="2770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domain semantics, permissions, pricing/margin controls and capability catalog.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models, signature and other commodity services behind explicit adapters.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493008" y="2011680"/>
            <a:ext cx="2578608" cy="3429000"/>
          </a:xfrm>
          <a:prstGeom prst="roundRect">
            <a:avLst>
              <a:gd name="adj" fmla="val 2128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93008" y="2011680"/>
            <a:ext cx="64008" cy="3429000"/>
          </a:xfrm>
          <a:prstGeom prst="rect">
            <a:avLst/>
          </a:prstGeom>
          <a:solidFill>
            <a:srgbClr val="3979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94176" y="21762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POSITIVE SIGNALS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94176" y="2523744"/>
            <a:ext cx="2194560" cy="2770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55.8% faster in a bounded JS task (95% CI 21–89%). [1]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26.08% more completed tasks, pooled across 4,867 developers (SE 10.3); heterogeneous. [2]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6318504" y="2011680"/>
            <a:ext cx="2578608" cy="3429000"/>
          </a:xfrm>
          <a:prstGeom prst="roundRect">
            <a:avLst>
              <a:gd name="adj" fmla="val 2128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18504" y="2011680"/>
            <a:ext cx="64008" cy="3429000"/>
          </a:xfrm>
          <a:prstGeom prst="rect">
            <a:avLst/>
          </a:prstGeom>
          <a:solidFill>
            <a:srgbClr val="D04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19672" y="21762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COUNTER-SIGNALS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19672" y="2523744"/>
            <a:ext cx="2194560" cy="2770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DORA 2024: observational, mixed; lower throughput/stability associations. [3]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METR: 16 maintainers / 246 issues; AI-allowed 19% slower. [4]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9144000" y="2011680"/>
            <a:ext cx="2532888" cy="3429000"/>
          </a:xfrm>
          <a:prstGeom prst="roundRect">
            <a:avLst>
              <a:gd name="adj" fmla="val 2166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44000" y="2011680"/>
            <a:ext cx="64008" cy="3429000"/>
          </a:xfrm>
          <a:prstGeom prst="rect">
            <a:avLst/>
          </a:prstGeom>
          <a:solidFill>
            <a:srgbClr val="FF726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45168" y="217627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TRAJECTORY ≠ ROI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345168" y="2523744"/>
            <a:ext cx="2148840" cy="2770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horizon ~2× / 7 months; SWE-bench is capability, not ROI. [5,6]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&gt;280× inference-price decline ≠ enterprise TCO; frontier training cost ≠ assistant cost. [7,8]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502920" y="571500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DORA 2025: AI is an amplifier of organizational conditions; mixed-method/observational framing. [9]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636422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[1–9] Study designs and populations differ; transfer to Cognirise requires local measurement.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93192"/>
            <a:ext cx="603504" cy="64008"/>
          </a:xfrm>
          <a:prstGeom prst="rect">
            <a:avLst/>
          </a:prstGeom>
          <a:solidFill>
            <a:srgbClr val="3979F6"/>
          </a:solidFill>
          <a:ln w="12700">
            <a:solidFill>
              <a:srgbClr val="3979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393192"/>
            <a:ext cx="603504" cy="64008"/>
          </a:xfrm>
          <a:prstGeom prst="rect">
            <a:avLst/>
          </a:prstGeom>
          <a:solidFill>
            <a:srgbClr val="7657F6"/>
          </a:solidFill>
          <a:ln w="12700">
            <a:solidFill>
              <a:srgbClr val="7657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393192"/>
            <a:ext cx="603504" cy="64008"/>
          </a:xfrm>
          <a:prstGeom prst="rect">
            <a:avLst/>
          </a:prstGeom>
          <a:solidFill>
            <a:srgbClr val="D04CA6"/>
          </a:solidFill>
          <a:ln w="12700">
            <a:solidFill>
              <a:srgbClr val="D04C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393192"/>
            <a:ext cx="603504" cy="64008"/>
          </a:xfrm>
          <a:prstGeom prst="rect">
            <a:avLst/>
          </a:prstGeom>
          <a:solidFill>
            <a:srgbClr val="FF7262"/>
          </a:solidFill>
          <a:ln w="12700">
            <a:solidFill>
              <a:srgbClr val="FF7262">
                <a:alpha val="0"/>
              </a:srgbClr>
            </a:solidFill>
            <a:prstDash val="solid"/>
          </a:ln>
        </p:spPr>
      </p:sp>
      <p:pic>
        <p:nvPicPr>
          <p:cNvPr id="6" name="Image 0" descr="/home/runner/workspace/artifacts/cognirise-atelier/public/cogniri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20040"/>
            <a:ext cx="1572768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640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STAGED BUILD + CAPABILITY ARCHITECTURE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3268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 staged record from foundation to hardening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02920" y="15727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chronology establishes order—not deployment, effort, velocity or production use. Capability labels mean implemented code. [10]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41832" y="2084832"/>
            <a:ext cx="256032" cy="256032"/>
          </a:xfrm>
          <a:prstGeom prst="ellipse">
            <a:avLst/>
          </a:prstGeom>
          <a:solidFill>
            <a:srgbClr val="3979F6"/>
          </a:solidFill>
          <a:ln w="12700">
            <a:solidFill>
              <a:srgbClr val="3979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212848"/>
            <a:ext cx="1143000" cy="0"/>
          </a:xfrm>
          <a:prstGeom prst="line">
            <a:avLst/>
          </a:prstGeom>
          <a:noFill/>
          <a:ln w="25400">
            <a:solidFill>
              <a:srgbClr val="DDE2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~20:28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2340864" y="2084832"/>
            <a:ext cx="256032" cy="256032"/>
          </a:xfrm>
          <a:prstGeom prst="ellipse">
            <a:avLst/>
          </a:prstGeom>
          <a:solidFill>
            <a:srgbClr val="D04CA6"/>
          </a:solidFill>
          <a:ln w="12700">
            <a:solidFill>
              <a:srgbClr val="D04C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87752" y="2212848"/>
            <a:ext cx="1143000" cy="0"/>
          </a:xfrm>
          <a:prstGeom prst="line">
            <a:avLst/>
          </a:prstGeom>
          <a:noFill/>
          <a:ln w="25400">
            <a:solidFill>
              <a:srgbClr val="DDE2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901952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~21:57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901952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Pre-contract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3739896" y="2084832"/>
            <a:ext cx="256032" cy="256032"/>
          </a:xfrm>
          <a:prstGeom prst="ellipse">
            <a:avLst/>
          </a:prstGeom>
          <a:solidFill>
            <a:srgbClr val="3979F6"/>
          </a:solidFill>
          <a:ln w="12700">
            <a:solidFill>
              <a:srgbClr val="3979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86784" y="2212848"/>
            <a:ext cx="1143000" cy="0"/>
          </a:xfrm>
          <a:prstGeom prst="line">
            <a:avLst/>
          </a:prstGeom>
          <a:noFill/>
          <a:ln w="25400">
            <a:solidFill>
              <a:srgbClr val="DDE2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00984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MAY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~06:06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300984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/ process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closeout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138928" y="2084832"/>
            <a:ext cx="256032" cy="256032"/>
          </a:xfrm>
          <a:prstGeom prst="ellipse">
            <a:avLst/>
          </a:prstGeom>
          <a:solidFill>
            <a:srgbClr val="D04CA6"/>
          </a:solidFill>
          <a:ln w="12700">
            <a:solidFill>
              <a:srgbClr val="D04CA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85816" y="2212848"/>
            <a:ext cx="1143000" cy="0"/>
          </a:xfrm>
          <a:prstGeom prst="line">
            <a:avLst/>
          </a:prstGeom>
          <a:noFill/>
          <a:ln w="25400">
            <a:solidFill>
              <a:srgbClr val="DDE2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00016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THRU ~13:09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00016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 CRM / pricing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salon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6537960" y="2084832"/>
            <a:ext cx="256032" cy="256032"/>
          </a:xfrm>
          <a:prstGeom prst="ellipse">
            <a:avLst/>
          </a:prstGeom>
          <a:solidFill>
            <a:srgbClr val="3979F6"/>
          </a:solidFill>
          <a:ln w="12700">
            <a:solidFill>
              <a:srgbClr val="3979F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84848" y="2212848"/>
            <a:ext cx="1143000" cy="0"/>
          </a:xfrm>
          <a:prstGeom prst="line">
            <a:avLst/>
          </a:prstGeom>
          <a:noFill/>
          <a:ln w="25400">
            <a:solidFill>
              <a:srgbClr val="DDE2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9048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MAY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EVENING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099048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v3 people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/ wallet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7936992" y="2084832"/>
            <a:ext cx="256032" cy="256032"/>
          </a:xfrm>
          <a:prstGeom prst="ellipse">
            <a:avLst/>
          </a:prstGeom>
          <a:solidFill>
            <a:srgbClr val="D04CA6"/>
          </a:solidFill>
          <a:ln w="12700">
            <a:solidFill>
              <a:srgbClr val="D04C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83880" y="2212848"/>
            <a:ext cx="1143000" cy="0"/>
          </a:xfrm>
          <a:prstGeom prst="line">
            <a:avLst/>
          </a:prstGeom>
          <a:noFill/>
          <a:ln w="25400">
            <a:solidFill>
              <a:srgbClr val="DDE2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98080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13–14 MAY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/ reference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continues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9336024" y="2084832"/>
            <a:ext cx="256032" cy="256032"/>
          </a:xfrm>
          <a:prstGeom prst="ellipse">
            <a:avLst/>
          </a:prstGeom>
          <a:solidFill>
            <a:srgbClr val="3979F6"/>
          </a:solidFill>
          <a:ln w="12700">
            <a:solidFill>
              <a:srgbClr val="3979F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82912" y="2212848"/>
            <a:ext cx="1143000" cy="0"/>
          </a:xfrm>
          <a:prstGeom prst="line">
            <a:avLst/>
          </a:prstGeom>
          <a:noFill/>
          <a:ln w="25400">
            <a:solidFill>
              <a:srgbClr val="DDE2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897112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19–20 JUL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897112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code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735056" y="2084832"/>
            <a:ext cx="256032" cy="256032"/>
          </a:xfrm>
          <a:prstGeom prst="ellipse">
            <a:avLst/>
          </a:prstGeom>
          <a:solidFill>
            <a:srgbClr val="D04CA6"/>
          </a:solidFill>
          <a:ln w="12700">
            <a:solidFill>
              <a:srgbClr val="D04CA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296144" y="24871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0296144" y="29077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system /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01A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hardening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502920" y="3794760"/>
            <a:ext cx="2651760" cy="1581912"/>
          </a:xfrm>
          <a:prstGeom prst="roundRect">
            <a:avLst>
              <a:gd name="adj" fmla="val 3468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3794760"/>
            <a:ext cx="64008" cy="1581912"/>
          </a:xfrm>
          <a:prstGeom prst="rect">
            <a:avLst/>
          </a:prstGeom>
          <a:solidFill>
            <a:srgbClr val="3979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4088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GROW + COMMERCIAL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04088" y="4306824"/>
            <a:ext cx="2267712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/ research agents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+ margin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Engagements / deliverables / change</a:t>
            </a:r>
            <a:endParaRPr lang="en-US" sz="1020" dirty="0"/>
          </a:p>
        </p:txBody>
      </p:sp>
      <p:sp>
        <p:nvSpPr>
          <p:cNvPr id="46" name="Shape 43"/>
          <p:cNvSpPr/>
          <p:nvPr/>
        </p:nvSpPr>
        <p:spPr>
          <a:xfrm>
            <a:off x="3346704" y="3794760"/>
            <a:ext cx="2651760" cy="1581912"/>
          </a:xfrm>
          <a:prstGeom prst="roundRect">
            <a:avLst>
              <a:gd name="adj" fmla="val 3468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346704" y="3794760"/>
            <a:ext cx="64008" cy="1581912"/>
          </a:xfrm>
          <a:prstGeom prst="rect">
            <a:avLst/>
          </a:prstGeom>
          <a:solidFill>
            <a:srgbClr val="7657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547872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FINANCE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3547872" y="4306824"/>
            <a:ext cx="2267712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/ finance / GL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 / VAT / cash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controls</a:t>
            </a:r>
            <a:endParaRPr lang="en-US" sz="1020" dirty="0"/>
          </a:p>
        </p:txBody>
      </p:sp>
      <p:sp>
        <p:nvSpPr>
          <p:cNvPr id="50" name="Shape 47"/>
          <p:cNvSpPr/>
          <p:nvPr/>
        </p:nvSpPr>
        <p:spPr>
          <a:xfrm>
            <a:off x="6190488" y="3794760"/>
            <a:ext cx="2651760" cy="1581912"/>
          </a:xfrm>
          <a:prstGeom prst="roundRect">
            <a:avLst>
              <a:gd name="adj" fmla="val 3468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0488" y="3794760"/>
            <a:ext cx="64008" cy="1581912"/>
          </a:xfrm>
          <a:prstGeom prst="rect">
            <a:avLst/>
          </a:prstGeom>
          <a:solidFill>
            <a:srgbClr val="D04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91656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PEOPLE + CONTRACTS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6391656" y="4306824"/>
            <a:ext cx="2267712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lifecycle / Me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lifecycle + e-sign path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/ wallet</a:t>
            </a:r>
            <a:endParaRPr lang="en-US" sz="1020" dirty="0"/>
          </a:p>
        </p:txBody>
      </p:sp>
      <p:sp>
        <p:nvSpPr>
          <p:cNvPr id="54" name="Shape 51"/>
          <p:cNvSpPr/>
          <p:nvPr/>
        </p:nvSpPr>
        <p:spPr>
          <a:xfrm>
            <a:off x="9034272" y="3794760"/>
            <a:ext cx="2651760" cy="1581912"/>
          </a:xfrm>
          <a:prstGeom prst="roundRect">
            <a:avLst>
              <a:gd name="adj" fmla="val 3468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034272" y="3794760"/>
            <a:ext cx="64008" cy="1581912"/>
          </a:xfrm>
          <a:prstGeom prst="rect">
            <a:avLst/>
          </a:prstGeom>
          <a:solidFill>
            <a:srgbClr val="FF726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235440" y="3959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ACCESS + EXPERIENCE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9235440" y="4306824"/>
            <a:ext cx="2267712" cy="9235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self-billing / scope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Alliance portal isolation</a:t>
            </a:r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+ capability catalog</a:t>
            </a:r>
            <a:endParaRPr lang="en-US" sz="1020" dirty="0"/>
          </a:p>
        </p:txBody>
      </p:sp>
      <p:sp>
        <p:nvSpPr>
          <p:cNvPr id="58" name="Text 55"/>
          <p:cNvSpPr/>
          <p:nvPr/>
        </p:nvSpPr>
        <p:spPr>
          <a:xfrm>
            <a:off x="594360" y="57150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Experience → bounded agentic interaction → deterministic domain services → evidence &amp; control → integration edge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02920" y="636422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[10] Integration paths—including e-sign and external AI/search—are implemented-not-proven-live.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93192"/>
            <a:ext cx="603504" cy="64008"/>
          </a:xfrm>
          <a:prstGeom prst="rect">
            <a:avLst/>
          </a:prstGeom>
          <a:solidFill>
            <a:srgbClr val="3979F6"/>
          </a:solidFill>
          <a:ln w="12700">
            <a:solidFill>
              <a:srgbClr val="3979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393192"/>
            <a:ext cx="603504" cy="64008"/>
          </a:xfrm>
          <a:prstGeom prst="rect">
            <a:avLst/>
          </a:prstGeom>
          <a:solidFill>
            <a:srgbClr val="7657F6"/>
          </a:solidFill>
          <a:ln w="12700">
            <a:solidFill>
              <a:srgbClr val="7657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393192"/>
            <a:ext cx="603504" cy="64008"/>
          </a:xfrm>
          <a:prstGeom prst="rect">
            <a:avLst/>
          </a:prstGeom>
          <a:solidFill>
            <a:srgbClr val="D04CA6"/>
          </a:solidFill>
          <a:ln w="12700">
            <a:solidFill>
              <a:srgbClr val="D04C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393192"/>
            <a:ext cx="603504" cy="64008"/>
          </a:xfrm>
          <a:prstGeom prst="rect">
            <a:avLst/>
          </a:prstGeom>
          <a:solidFill>
            <a:srgbClr val="FF7262"/>
          </a:solidFill>
          <a:ln w="12700">
            <a:solidFill>
              <a:srgbClr val="FF7262">
                <a:alpha val="0"/>
              </a:srgbClr>
            </a:solidFill>
            <a:prstDash val="solid"/>
          </a:ln>
        </p:spPr>
      </p:sp>
      <p:pic>
        <p:nvPicPr>
          <p:cNvPr id="6" name="Image 0" descr="/home/runner/workspace/artifacts/cognirise-atelier/public/cognirise-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20040"/>
            <a:ext cx="1572768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3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640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B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AGENTIC OPERATING MODEL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3268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Three workspaces. Shared spine. Senior-led control.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02920" y="15727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Assistants reduce navigation and synthesis burden; accountable owners retain commercial, people, legal and financial decisions.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011680"/>
            <a:ext cx="3529584" cy="2971800"/>
          </a:xfrm>
          <a:prstGeom prst="roundRect">
            <a:avLst>
              <a:gd name="adj" fmla="val 1846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011680"/>
            <a:ext cx="64008" cy="2971800"/>
          </a:xfrm>
          <a:prstGeom prst="rect">
            <a:avLst/>
          </a:prstGeom>
          <a:solidFill>
            <a:srgbClr val="3979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17627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" y="2523744"/>
            <a:ext cx="3145536" cy="2313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 self-service; people, time, wallet and contracts.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Assistant retrieves or proposes; approved domain services execute.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315968" y="2011680"/>
            <a:ext cx="3529584" cy="2971800"/>
          </a:xfrm>
          <a:prstGeom prst="roundRect">
            <a:avLst>
              <a:gd name="adj" fmla="val 1846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15968" y="2011680"/>
            <a:ext cx="64008" cy="2971800"/>
          </a:xfrm>
          <a:prstGeom prst="rect">
            <a:avLst/>
          </a:prstGeom>
          <a:solidFill>
            <a:srgbClr val="D04C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7136" y="217627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CONTRACTORS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17136" y="2523744"/>
            <a:ext cx="3145536" cy="2313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access; time, expense and self-billing paths.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Least privilege + engagement scope + finance review.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129016" y="2011680"/>
            <a:ext cx="3529584" cy="2971800"/>
          </a:xfrm>
          <a:prstGeom prst="roundRect">
            <a:avLst>
              <a:gd name="adj" fmla="val 1846"/>
            </a:avLst>
          </a:prstGeom>
          <a:solidFill>
            <a:srgbClr val="172442"/>
          </a:solidFill>
          <a:ln w="10160">
            <a:solidFill>
              <a:srgbClr val="31405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29016" y="2011680"/>
            <a:ext cx="64008" cy="2971800"/>
          </a:xfrm>
          <a:prstGeom prst="rect">
            <a:avLst/>
          </a:prstGeom>
          <a:solidFill>
            <a:srgbClr val="FF726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30184" y="217627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ALLIANCE PARTNERS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30184" y="2523744"/>
            <a:ext cx="3145536" cy="2313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portal with relevant delivery/commercial context.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D9D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grants + partner-owner review + revocation.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502920" y="52578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202F50"/>
          </a:solidFill>
          <a:ln w="12700">
            <a:solidFill>
              <a:srgbClr val="3948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54406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BAF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SENIOR-LED GOVERNANCE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88920" y="543153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&amp; decision rights  →  deterministic constraints  →  cataloged actions  →  confirmation / authorization  →  exceptions &amp; assurance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502920" y="636422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BFC7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[10] Scoped surfaces and isolation are evidenced in code; production authorization effectiveness is unverified.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93192"/>
            <a:ext cx="603504" cy="64008"/>
          </a:xfrm>
          <a:prstGeom prst="rect">
            <a:avLst/>
          </a:prstGeom>
          <a:solidFill>
            <a:srgbClr val="3979F6"/>
          </a:solidFill>
          <a:ln w="12700">
            <a:solidFill>
              <a:srgbClr val="3979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" y="393192"/>
            <a:ext cx="603504" cy="64008"/>
          </a:xfrm>
          <a:prstGeom prst="rect">
            <a:avLst/>
          </a:prstGeom>
          <a:solidFill>
            <a:srgbClr val="7657F6"/>
          </a:solidFill>
          <a:ln w="12700">
            <a:solidFill>
              <a:srgbClr val="7657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9344" y="393192"/>
            <a:ext cx="603504" cy="64008"/>
          </a:xfrm>
          <a:prstGeom prst="rect">
            <a:avLst/>
          </a:prstGeom>
          <a:solidFill>
            <a:srgbClr val="D04CA6"/>
          </a:solidFill>
          <a:ln w="12700">
            <a:solidFill>
              <a:srgbClr val="D04C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393192"/>
            <a:ext cx="603504" cy="64008"/>
          </a:xfrm>
          <a:prstGeom prst="rect">
            <a:avLst/>
          </a:prstGeom>
          <a:solidFill>
            <a:srgbClr val="FF7262"/>
          </a:solidFill>
          <a:ln w="12700">
            <a:solidFill>
              <a:srgbClr val="FF7262">
                <a:alpha val="0"/>
              </a:srgbClr>
            </a:solidFill>
            <a:prstDash val="solid"/>
          </a:ln>
        </p:spPr>
      </p:sp>
      <p:pic>
        <p:nvPicPr>
          <p:cNvPr id="6" name="Image 0" descr="/home/runner/workspace/artifacts/cognirise-atelier/public/cogniri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20040"/>
            <a:ext cx="1572768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6400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6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EVIDENCED TRAJECTORY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32688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Breadth is visible. Outcomes are the next experiment.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502920" y="15727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defensible case is implemented coherence and staged trajectory—not live deployment or transformation. [10]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1993392"/>
            <a:ext cx="3529584" cy="3310128"/>
          </a:xfrm>
          <a:prstGeom prst="roundRect">
            <a:avLst>
              <a:gd name="adj" fmla="val 1657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993392"/>
            <a:ext cx="64008" cy="3310128"/>
          </a:xfrm>
          <a:prstGeom prst="rect">
            <a:avLst/>
          </a:prstGeom>
          <a:solidFill>
            <a:srgbClr val="3979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1579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EVIDENCED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" y="2505456"/>
            <a:ext cx="3145536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Eight-stage recorded chronology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cross-domain code surface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commercial/finance controls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workforce and partner experiences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315968" y="1993392"/>
            <a:ext cx="3529584" cy="3310128"/>
          </a:xfrm>
          <a:prstGeom prst="roundRect">
            <a:avLst>
              <a:gd name="adj" fmla="val 1657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15968" y="1993392"/>
            <a:ext cx="64008" cy="3310128"/>
          </a:xfrm>
          <a:prstGeom prst="rect">
            <a:avLst/>
          </a:prstGeom>
          <a:solidFill>
            <a:srgbClr val="7657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7136" y="21579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LESSONS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17136" y="2505456"/>
            <a:ext cx="3145536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operating model before assistant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consequential math/state explicit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identity boundaries as architecture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capability, deployment and outcome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129016" y="1993392"/>
            <a:ext cx="3529584" cy="3310128"/>
          </a:xfrm>
          <a:prstGeom prst="roundRect">
            <a:avLst>
              <a:gd name="adj" fmla="val 1657"/>
            </a:avLst>
          </a:prstGeom>
          <a:solidFill>
            <a:srgbClr val="F3F5FA"/>
          </a:solidFill>
          <a:ln w="10160">
            <a:solidFill>
              <a:srgbClr val="DDE2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29016" y="1993392"/>
            <a:ext cx="64008" cy="3310128"/>
          </a:xfrm>
          <a:prstGeom prst="rect">
            <a:avLst/>
          </a:prstGeom>
          <a:solidFill>
            <a:srgbClr val="FF726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30184" y="21579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A36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CAVEATS + NEXT PROOF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30184" y="2505456"/>
            <a:ext cx="3145536" cy="2651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live deployment or outcomes claimed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integrations and access boundaries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time, success, rework, controls and full TCO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720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uncertainty and task heterogeneity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502920" y="5559552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101A36"/>
          </a:solidFill>
          <a:ln w="12700">
            <a:solidFill>
              <a:srgbClr val="101A3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57424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BOOK A DEMO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423160" y="5733288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Atelier’s controlled workflow—and shape an evidence-led pilot.  cognirise.ai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" y="636422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[1–10] Full source register and methodology caveats are included in speaker notes.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mforta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Cognirise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Atelier: the agentic operating system</dc:title>
  <dc:subject>Atelier agentic operating system case study</dc:subject>
  <dc:creator>Cognirise</dc:creator>
  <cp:lastModifiedBy>Cognirise</cp:lastModifiedBy>
  <cp:revision>1</cp:revision>
  <dcterms:created xsi:type="dcterms:W3CDTF">2026-09-05T18:46:56Z</dcterms:created>
  <dcterms:modified xsi:type="dcterms:W3CDTF">2026-09-05T18:46:56Z</dcterms:modified>
</cp:coreProperties>
</file>