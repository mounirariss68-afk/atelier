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353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A3532"/>
                </a:solidFill>
                <a:latin typeface="Calibri"/>
              </a:rPr>
              <a:t>Masdar portfolio capacity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capacity (GW)</c:v>
                </c:pt>
              </c:strCache>
            </c:strRef>
          </c:tx>
          <c:spPr>
            <a:solidFill>
              <a:srgbClr val="116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35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2024</c:v>
                  </c:pt>
                  <c:pt idx="2">
                    <c:v>2026</c:v>
                  </c:pt>
                  <c:pt idx="3">
                    <c:v>2030 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51</c:v>
                </c:pt>
                <c:pt idx="2">
                  <c:v>65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A35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7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A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POV is about acceleration, not correction. Masdar is winning; AI is how it wins faster and at lower effort per GW.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celebration slide. Everything here is public and verifiable. Sets the tone: we know and respect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Urgency by context, not criticism: the ecosystem is moving, Masdar's own strategy points here, and the technology finally matches the ambition.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urgency argument framed as math, not deficiency: the 2030 target itself creates the case for a capacity multiplier.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converts 'no established systems / Excel-heavy' into an advantage. Never name the current state — frame the alternative path others are stuck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Urgency slide. All forward-looking, zero backward-looking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examples in Masdar's actual business shape. Predictive maintenance references their existing Presight direction — 'extending existing pilots' credits work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anti-big-bang message matters: it removes the fear that AI requires finishing ERP/process programs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answers 'process mapping will take months': AI compresses it into the same sprint that delivers the first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'no established systems': foundations are built use-case by use-case, funded by delivered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Aspirational close of the roadmap: national-stage recognition is a strong motivator in this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enabler-not-threat slide. Key line: growth absorbs freed capacity — 100GW needs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Pre-empts the standard objections (data security, sovereignty, control) before they're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framed as a shared ambition, not a vendor promise. Numbers are targets to be validated in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small, low-risk, high-proof next step. The sprint produces the roadmap — so saying yes is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116B5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365760"/>
            <a:ext cx="2926080" cy="2926080"/>
          </a:xfrm>
          <a:prstGeom prst="ellipse">
            <a:avLst/>
          </a:prstGeom>
          <a:solidFill>
            <a:srgbClr val="2FBF8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116B5E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at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Gigawatt Scale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can help Masdar reach 100GW faster — and become the clean-energy company of the agentic era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Masdar  ·  August 2026  ·  Confidential — for discussion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48472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Elevates.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MASDAR'S MOMENT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firsts — and the boldest chapter is just beginning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0136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GW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capacity at the 20-year mark — up from 20GW in 2022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60020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1828800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80136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GW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35424" y="246888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capacity target by 2030, growing ~10GW every year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3608" y="1828800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938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6256" y="180136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293608" y="246888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Masdar projects, run from a remarkably lean global team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6732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0565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96849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$30–35bn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77240" y="463600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and project finance committed through 2030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06824" y="376732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5424" y="3995928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0565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396849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AA–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4535424" y="463600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Fitch rating; $1bn green bond 4.6x oversubscribed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65008" y="376732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30" name="Shape 23"/>
          <p:cNvSpPr/>
          <p:nvPr/>
        </p:nvSpPr>
        <p:spPr>
          <a:xfrm>
            <a:off x="8293608" y="3995928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10565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6256" y="396849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World-first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8293608" y="463600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gigascale 24/7 renewables: 5.2GW solar + 19GWh storage, built for the AI era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bold experiment to the world's pure-play renewables leader in two decades. </a:t>
            </a:r>
            <a:pPr indent="0" marL="0">
              <a:buNone/>
            </a:pPr>
            <a:r>
              <a:rPr lang="en-US" sz="150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leap — from scale to intelligence — can be Masdar's biggest first yet.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CONVERSATION,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alignment: three forces are converging on this moment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3566160"/>
          </a:xfrm>
          <a:prstGeom prst="roundRect">
            <a:avLst>
              <a:gd name="adj" fmla="val 2308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84248"/>
            <a:ext cx="566928" cy="56692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2031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 is moving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AI Strategy 2031, Abu Dhabi's commitment to be the world's first AI-native government by 2027, Stargate UAE. Masdar's shareholders and ecosystem — ADNOC, Mubadala, TAQA — are deploying AI at pace.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691640"/>
            <a:ext cx="3575304" cy="3566160"/>
          </a:xfrm>
          <a:prstGeom prst="roundRect">
            <a:avLst>
              <a:gd name="adj" fmla="val 2308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84248"/>
            <a:ext cx="566928" cy="56692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07" y="212031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7432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already powers AI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81144" y="333756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“Energy for AI” is live: the world-first 24/7 gigascale project and the 2025 Microsoft partnership position Masdar as the energy behind the AI era. “AI for Energy” inside Masdar is the natural counterpart.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691640"/>
            <a:ext cx="3575304" cy="3566160"/>
          </a:xfrm>
          <a:prstGeom prst="roundRect">
            <a:avLst>
              <a:gd name="adj" fmla="val 2308"/>
            </a:avLst>
          </a:prstGeom>
          <a:solidFill>
            <a:srgbClr val="F0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984248"/>
            <a:ext cx="566928" cy="56692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91" y="212031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74320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finally enterprise-ready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9328" y="3337560"/>
            <a:ext cx="3026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do real knowledge work — reading contracts, consolidating reports, mapping processes — working with information wherever it lives today. Capability keeps rising while cost per task keeps falling.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powering the world's AI is perfectly placed to be powered by it. </a:t>
            </a:r>
            <a:pPr indent="0" marL="0">
              <a:buNone/>
            </a:pPr>
            <a:r>
              <a:rPr lang="en-US" sz="150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window rewards early movers disproportionately.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EQUATION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100GW: ambition compounds faster than any team can hire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819656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2938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94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gigawatt multiplies the work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949440" y="211226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markets to read, deals to screen, JVs to govern, assets to monitor, reports to consolidate — across 40+ countries and dozens of partners.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3209544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31927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0" y="31729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team is a strength to protect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49440" y="35021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Masdar's ~1,100 people already deliver what takes peers several times the headcount. Scaling that model — not diluting it — is the opportunity.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09360" y="4599432"/>
            <a:ext cx="457200" cy="457200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7091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45628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capacity multiplier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949440" y="48920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absorbs the compounding coordination work, so capacity can grow toward 100GW without complexity growing with it — and people stay focused on judgment, relationships and ambition.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LEAPFROG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can skip the transformation decade others are stuck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F0F6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RETROFIT PATH — EVERYONE ELSE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players spend years untangling decades of legacy systems, migrations and integrations before AI creates real value. Their installed base is now their bottleneck.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groundwork before the first win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2880360"/>
          </a:xfrm>
          <a:prstGeom prst="roundRect">
            <a:avLst>
              <a:gd name="adj" fmla="val 2857"/>
            </a:avLst>
          </a:prstGeom>
          <a:solidFill>
            <a:srgbClr val="0A3532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LEAPFROG PATH — MASDAR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23317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young, fast-scaling organization can build AI-native from the start — designing intelligent workflows once, rather than retrofitting them around legacy estates. Agility becomes a durable head start.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3952" y="3840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wins in weeks, compounding from day 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0176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70432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AI works with work as it actually happens — documents, spreadsheets, email, meetings. Value starts on day one; no multi-year systems program is a prerequisite.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99632" y="4892040"/>
            <a:ext cx="457200" cy="457200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00176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21424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understanding that once took months of workshops can be AI-accelerated into weeks — producing the blueprint and the momentum at the same time.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advantage compounds — the earlier the start, the steeper the curve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993392"/>
            <a:ext cx="493776" cy="493776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90" y="2111898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56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compounds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340864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AI touches creates data, patterns and skills that make the next one faster and cheaper. A 2026 start pays back across every year to 2030.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09944" y="1993392"/>
            <a:ext cx="493776" cy="493776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450" y="2111898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56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2030 math is unforgiving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86600" y="2340864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~10GW must be added every year. Capability built now serves five delivery years; capability built in 2028 serves two.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2160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0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86384" y="3977640"/>
            <a:ext cx="493776" cy="493776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0" y="4096146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chooses AI-empowered work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432511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builders, dealmakers and engineers increasingly choose organizations where AI removes the drudgery. Early movers win the talent flywheel too.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721608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F0F6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9944" y="3977640"/>
            <a:ext cx="493776" cy="493776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50" y="4096146"/>
            <a:ext cx="256764" cy="256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deserve tomorrow's tooling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086600" y="432511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choices made between now and 2030 are the largest in Masdar's history. They should be made with the best intelligence available — not yesterday's toolkit.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is inexpensive; waiting is not. </a:t>
            </a:r>
            <a:pPr indent="0" marL="0">
              <a:buNone/>
            </a:pPr>
            <a:r>
              <a:rPr lang="en-US" sz="150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AI-compounding organizations and the rest widens every quarter.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lift every link of Masdar's value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88336" cy="3794760"/>
          </a:xfrm>
          <a:prstGeom prst="roundRect">
            <a:avLst>
              <a:gd name="adj" fmla="val 3061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947672"/>
            <a:ext cx="512064" cy="512064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6060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&amp; Investment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3337560"/>
            <a:ext cx="2231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policy intelligence, always on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deal screening &amp; valuation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in days, not weeks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691640"/>
            <a:ext cx="2688336" cy="3794760"/>
          </a:xfrm>
          <a:prstGeom prst="roundRect">
            <a:avLst>
              <a:gd name="adj" fmla="val 3061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1947672"/>
            <a:ext cx="512064" cy="512064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487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6060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Delivery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93592" y="3337560"/>
            <a:ext cx="2231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&amp; tender copilots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and permit intelligence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risk foresight across projects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691640"/>
            <a:ext cx="2688336" cy="3794760"/>
          </a:xfrm>
          <a:prstGeom prst="roundRect">
            <a:avLst>
              <a:gd name="adj" fmla="val 3061"/>
            </a:avLst>
          </a:prstGeom>
          <a:solidFill>
            <a:srgbClr val="F0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947672"/>
            <a:ext cx="512064" cy="512064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07056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6060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&amp; O&amp;M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337560"/>
            <a:ext cx="2231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performance analytics across 40+ markets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extending existing pilots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partner &amp; lender reporting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0264" y="1691640"/>
            <a:ext cx="2688336" cy="3794760"/>
          </a:xfrm>
          <a:prstGeom prst="roundRect">
            <a:avLst>
              <a:gd name="adj" fmla="val 3061"/>
            </a:avLst>
          </a:prstGeom>
          <a:solidFill>
            <a:srgbClr val="E4F0EC"/>
          </a:solidFill>
          <a:ln/>
        </p:spPr>
      </p:sp>
      <p:sp>
        <p:nvSpPr>
          <p:cNvPr id="20" name="Shape 15"/>
          <p:cNvSpPr/>
          <p:nvPr/>
        </p:nvSpPr>
        <p:spPr>
          <a:xfrm>
            <a:off x="9208008" y="1947672"/>
            <a:ext cx="512064" cy="512064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903" y="207056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26060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Center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08008" y="3337560"/>
            <a:ext cx="2231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consolidation &amp; board packs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and investor reporting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copilot for every employee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use cases — a discovery sprint would prioritize by value, feasibility and enthusiasm of the teams involved.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wins to an agentic enterprise — three horizons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30352" cy="530352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2304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 ·  MONTHS 0–3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 fast. AI-accelerated discovery maps processes and data in weeks; the first copilots go live; leaders get hands-on.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88536" y="18288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E4F0EC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2103120"/>
            <a:ext cx="530352" cy="530352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40" y="2230404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 ·  MONTHS 3–9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62856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62856" y="3657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 works across the value chain. Build data foundations behind each proven use case — not ahead of them.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28432" y="18288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0A3532"/>
          </a:solidFill>
          <a:ln/>
        </p:spPr>
      </p:sp>
      <p:sp>
        <p:nvSpPr>
          <p:cNvPr id="17" name="Shape 13"/>
          <p:cNvSpPr/>
          <p:nvPr/>
        </p:nvSpPr>
        <p:spPr>
          <a:xfrm>
            <a:off x="8302752" y="2103120"/>
            <a:ext cx="530352" cy="530352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36" y="22304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 ·  MONTHS 9–24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302752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302752" y="3657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embedded in core workflows with human oversight. An AI-native operating model built for 100GW scale.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principle: </a:t>
            </a:r>
            <a:pPr indent="0" marL="0">
              <a:buNone/>
            </a:pPr>
            <a:r>
              <a:rPr lang="en-US" sz="150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first, foundations behind value, transformation on proof — momentum over big-bang programs.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· MONTHS 0–3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Illuminate: visible wins and a shared map in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778325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discovery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06240" y="162763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read the documents, files and workflows teams already use to map processes and the data landscape in weeks — turning a months-long mapping effort into a sprint.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747589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15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copilots live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06240" y="259689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quick wins in volunteer teams — e.g. reporting automation, document intelligence, enterprise knowledge search. Chosen for visibility and time given back.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716853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studio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20624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sessions where the C-suite and leaders experience AI as personal leverage first — briefing prep, analysis, drafting — so the change is leadership-led.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72000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68611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553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starter kit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206240" y="453542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guardrails — data handling, model access, human oversight — so teams can move fast safely from day one.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0A3532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77900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outcomes: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people can see  ·  a shared map of processes and data  ·  leaders visibly leading the change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· MONTHS 3–9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Accelerate: scale what works, build foundations behind the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778325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 cases at scale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06240" y="162763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proven patterns across the value chain — investment screening, tender copilots, asset analytics, finance and ESG reporting — prioritized by value and team pull.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747589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151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foundations, incrementally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06240" y="259689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leaves the data estate stronger: sources connected, definitions agreed, quality raised — foundations paid for by the value they enable.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716853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network &amp; academy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20624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employees fluent and building their own AI workflows. Recognition and community make adoption pull, not push.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72000"/>
            <a:ext cx="475488" cy="475488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68611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553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operating model of Masdar's own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206240" y="453542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prioritization, delivery and measurement as an internal capability — Masdar owns the engine, partners accelerate it.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E4F0EC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77900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9:  </a:t>
            </a:r>
            <a:pPr indent="0" marL="0">
              <a:buNone/>
            </a:pPr>
            <a:r>
              <a:rPr lang="en-US" sz="1350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woven into daily work across functions  ·  a strengthening data estate  ·  an internal engine that keeps improving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· MONTHS 9–24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the clean-energy company of the agentic 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778325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 core workflows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06240" y="1627632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work alongside teams in deal rooms, project delivery, asset operations and corporate reporting — always with human judgment in command.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747589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151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platform layer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06240" y="2596896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point solutions consolidate into a coherent, secure platform — the digital backbone for the 100GW enterprise, designed once, done right.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716853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roles, bigger careers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20624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augmented by a team of agents. Roles shift toward judgment, relationships and creativity — growth toward 100GW absorbs the freed capacity.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72000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68611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5537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as the reference story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206240" y="453542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proof point for the UAE's AI ambition: the company powering the AI era, itself running on intelligence — a story for ADSW, COP and investors.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0A3532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77900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100GW delivered by a lean, augmented organization — the operating model peers will study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 enabler — for the C-suite and every employee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0F6F4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947672"/>
            <a:ext cx="493776" cy="49377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90" y="2066178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Augment, never replace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295144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the repetitive work; people keep judgment, relationships and ambition. Growth to 100GW needs every hour it frees — capacity is redeployed, not removed.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09944" y="1947672"/>
            <a:ext cx="493776" cy="49377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450" y="2066178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11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time back first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86600" y="2295144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use cases target the hours everyone wants back — searching, formatting, consolidating, reporting. Trust is earned by making work better immediately.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13048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0F6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86384" y="4069080"/>
            <a:ext cx="493776" cy="49377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90" y="4187586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325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go first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63040" y="4416552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enablement for the C-suite makes this leadership-led, not imposed. When leaders use AI daily, the organization follows with confidence.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13048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0F6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9944" y="4069080"/>
            <a:ext cx="493776" cy="49377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50" y="4187586"/>
            <a:ext cx="256764" cy="256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325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a stake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086600" y="4416552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in every team, an academy open to all, recognition for the best AI-built workflows. Adoption by pull — people ask for the next use case.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colleague, not a competitor </a:t>
            </a:r>
            <a:pPr indent="0" marL="0">
              <a:buNone/>
            </a:pPr>
            <a:r>
              <a:rPr lang="en-US" sz="150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measured as much by employee enthusiasm as by hours saved.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sovereign and responsible from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1824045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national agenda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89120" y="167335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advance UAE AI Strategy 2031 and Abu Dhabi's AI ambitions — Masdar's AI journey as a contribution to the national story.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34056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848173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157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Sovereign-capable deployment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89120" y="2697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and models can remain in-country, on dedicated or on-premise infrastructure, with full control over where intelligence lives.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58184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872301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3989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oversight, always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389120" y="3721608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 for every AI-assisted decision; agents act with defined mandates, audit trails and human judgment in command.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782312"/>
            <a:ext cx="475488" cy="475488"/>
          </a:xfrm>
          <a:prstGeom prst="ellipse">
            <a:avLst/>
          </a:prstGeom>
          <a:solidFill>
            <a:srgbClr val="0A35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896429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6402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for what matters most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389120" y="4745736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rooms, board material and partner data protected by design — security posture set before the first use case, not after.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1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FROM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ambition we would set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E4F0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9280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living map of processes and data — refreshed continuously by AI, not a one-off study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06824" y="169164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1920240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89280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35424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agents live across the value chain, each with a measured business case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65008" y="169164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E4F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3608" y="1920240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29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6256" y="1892808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293608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returned to teams annually — redeployed toward the 100GW mission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85876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97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05993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77240" y="472744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fluent in AI, with champions embedded in every function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06824" y="385876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E4F0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35424" y="4087368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97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072" y="405993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535424" y="472744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governance and operating model — Masdar's engine, partners as accelerants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65008" y="3858768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0F6F4"/>
          </a:solidFill>
          <a:ln/>
        </p:spPr>
      </p:sp>
      <p:sp>
        <p:nvSpPr>
          <p:cNvPr id="30" name="Shape 23"/>
          <p:cNvSpPr/>
          <p:nvPr/>
        </p:nvSpPr>
        <p:spPr>
          <a:xfrm>
            <a:off x="8293608" y="4087368"/>
            <a:ext cx="457200" cy="457200"/>
          </a:xfrm>
          <a:prstGeom prst="ellipse">
            <a:avLst/>
          </a:prstGeom>
          <a:solidFill>
            <a:srgbClr val="116B5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1970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6256" y="4059936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293608" y="472744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from the top — an AI story worth telling on the national and global stage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 ·  Point of view for Masdar  ·  August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389120"/>
            <a:ext cx="4572000" cy="4572000"/>
          </a:xfrm>
          <a:prstGeom prst="ellipse">
            <a:avLst/>
          </a:prstGeom>
          <a:solidFill>
            <a:srgbClr val="116B5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2194560"/>
            <a:ext cx="4754880" cy="4754880"/>
          </a:xfrm>
          <a:prstGeom prst="ellipse">
            <a:avLst/>
          </a:prstGeom>
          <a:solidFill>
            <a:srgbClr val="116B5E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COGNIRISE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built for this journey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Cognirise helps organizations in the region become agentic enterprises — from strategy to production, sovereign-capable, and always people-first.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F4340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377440"/>
            <a:ext cx="402336" cy="40233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2474001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8529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Enterprise Transformation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79776" y="219456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F4340"/>
          </a:solidFill>
          <a:ln/>
        </p:spPr>
      </p:sp>
      <p:sp>
        <p:nvSpPr>
          <p:cNvPr id="12" name="Shape 9"/>
          <p:cNvSpPr/>
          <p:nvPr/>
        </p:nvSpPr>
        <p:spPr>
          <a:xfrm>
            <a:off x="2980944" y="2377440"/>
            <a:ext cx="402336" cy="40233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505" y="2474001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80944" y="28529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Foundations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10912" y="219456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F4340"/>
          </a:solidFill>
          <a:ln/>
        </p:spPr>
      </p:sp>
      <p:sp>
        <p:nvSpPr>
          <p:cNvPr id="16" name="Shape 12"/>
          <p:cNvSpPr/>
          <p:nvPr/>
        </p:nvSpPr>
        <p:spPr>
          <a:xfrm>
            <a:off x="5212080" y="2377440"/>
            <a:ext cx="402336" cy="40233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41" y="2474001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28529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with AI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42048" y="219456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F4340"/>
          </a:solidFill>
          <a:ln/>
        </p:spPr>
      </p:sp>
      <p:sp>
        <p:nvSpPr>
          <p:cNvPr id="20" name="Shape 15"/>
          <p:cNvSpPr/>
          <p:nvPr/>
        </p:nvSpPr>
        <p:spPr>
          <a:xfrm>
            <a:off x="7443216" y="2377440"/>
            <a:ext cx="402336" cy="40233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777" y="2474001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3216" y="28529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Agentic AI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473184" y="219456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0F4340"/>
          </a:solidFill>
          <a:ln/>
        </p:spPr>
      </p:sp>
      <p:sp>
        <p:nvSpPr>
          <p:cNvPr id="24" name="Shape 18"/>
          <p:cNvSpPr/>
          <p:nvPr/>
        </p:nvSpPr>
        <p:spPr>
          <a:xfrm>
            <a:off x="9674352" y="2377440"/>
            <a:ext cx="402336" cy="402336"/>
          </a:xfrm>
          <a:prstGeom prst="ellipse">
            <a:avLst/>
          </a:prstGeom>
          <a:solidFill>
            <a:srgbClr val="2FBF8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913" y="2474001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74352" y="28529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Platforms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397764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2FBF8F"/>
          </a:solidFill>
          <a:ln/>
        </p:spPr>
      </p:sp>
      <p:sp>
        <p:nvSpPr>
          <p:cNvPr id="28" name="Text 21"/>
          <p:cNvSpPr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68680" y="452628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AI Discovery Sprint (2–3 weeks): </a:t>
            </a:r>
            <a:pPr indent="0" marL="0">
              <a:buNone/>
            </a:pPr>
            <a:r>
              <a:rPr lang="en-US" sz="1450" dirty="0">
                <a:solidFill>
                  <a:srgbClr val="0A3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process and data mapping, two live copilot demonstrations on Masdar material, and a costed, prioritized roadmap — designed with your teams, ready for executive decision.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Mounir  ·  mounir@cognirise.ai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348472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Elevates.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2026-08-13T12:21:03Z</dcterms:created>
  <dcterms:modified xsi:type="dcterms:W3CDTF">2026-08-13T12:21:03Z</dcterms:modified>
</cp:coreProperties>
</file>