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226"/>
    <a:srgbClr val="000124"/>
    <a:srgbClr val="5E7AFE"/>
    <a:srgbClr val="4679F9"/>
    <a:srgbClr val="A305A0"/>
    <a:srgbClr val="9200AE"/>
    <a:srgbClr val="986CDB"/>
    <a:srgbClr val="FC795F"/>
    <a:srgbClr val="A746FF"/>
    <a:srgbClr val="01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/>
    <p:restoredTop sz="96498"/>
  </p:normalViewPr>
  <p:slideViewPr>
    <p:cSldViewPr snapToGrid="0">
      <p:cViewPr varScale="1">
        <p:scale>
          <a:sx n="123" d="100"/>
          <a:sy n="12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37C05-72BE-B540-90CA-4AD27FEE892F}" type="datetimeFigureOut">
              <a:rPr lang="en-AE" smtClean="0"/>
              <a:t>18/06/2026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0EB7-81E9-7442-9ACC-60559A8AC82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084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Generic">
    <p:bg>
      <p:bgPr>
        <a:solidFill>
          <a:srgbClr val="0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8973062-4320-2274-518D-28CF952C2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444"/>
          <a:stretch>
            <a:fillRect/>
          </a:stretch>
        </p:blipFill>
        <p:spPr>
          <a:xfrm>
            <a:off x="0" y="0"/>
            <a:ext cx="12192000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r>
              <a:rPr lang="en-AE" dirty="0"/>
              <a:t>Copyright © 2026. All Rights Protected and Reserved.</a:t>
            </a:r>
            <a:endParaRPr lang="en-AE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E4A8D-8C0D-DDDF-5B75-319CE04689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973" t="25407" r="72175" b="32412"/>
          <a:stretch>
            <a:fillRect/>
          </a:stretch>
        </p:blipFill>
        <p:spPr>
          <a:xfrm>
            <a:off x="3366885" y="2112572"/>
            <a:ext cx="1467874" cy="1806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3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FS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45E4DDF-289B-F338-1C2C-7B1A009FD9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792"/>
          <a:stretch>
            <a:fillRect/>
          </a:stretch>
        </p:blipFill>
        <p:spPr>
          <a:xfrm>
            <a:off x="-1" y="-1"/>
            <a:ext cx="5194301" cy="68727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5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Healthcare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B1ADCE-70BE-8E84-A422-33F238E2CA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800" y="14712"/>
            <a:ext cx="51435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481" y="0"/>
            <a:ext cx="699752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7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Telecom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DA99003-A779-2A98-A61B-E8E4B8FE32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6530"/>
          <a:stretch>
            <a:fillRect/>
          </a:stretch>
        </p:blipFill>
        <p:spPr>
          <a:xfrm>
            <a:off x="0" y="-89"/>
            <a:ext cx="5194300" cy="68727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8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Transport &amp; Mobility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70A420-A506-267A-E434-8FC1E6E695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57" b="5086"/>
          <a:stretch>
            <a:fillRect/>
          </a:stretch>
        </p:blipFill>
        <p:spPr>
          <a:xfrm>
            <a:off x="55272" y="0"/>
            <a:ext cx="5139028" cy="68727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Travel &amp; Hospitality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30A928-40E2-C67B-C668-683977D36E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465"/>
          <a:stretch>
            <a:fillRect/>
          </a:stretch>
        </p:blipFill>
        <p:spPr>
          <a:xfrm>
            <a:off x="9364" y="-12969"/>
            <a:ext cx="5184936" cy="68856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00034" y="0"/>
            <a:ext cx="7091966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0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Retail &amp; Consumer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A10E1B-5066-7115-A0F2-1AAA80BC36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261"/>
          <a:stretch>
            <a:fillRect/>
          </a:stretch>
        </p:blipFill>
        <p:spPr>
          <a:xfrm>
            <a:off x="-1" y="-89"/>
            <a:ext cx="5152266" cy="685808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39565" y="0"/>
            <a:ext cx="7052435" cy="6858000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4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Public Sector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A852C2-57FF-04CE-1B69-B7DB9A4030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5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Oil &amp; Gas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CC0541-6366-7C6C-4745-30216DEC46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092" b="7674"/>
          <a:stretch>
            <a:fillRect/>
          </a:stretch>
        </p:blipFill>
        <p:spPr>
          <a:xfrm>
            <a:off x="12586" y="-90"/>
            <a:ext cx="5181714" cy="68580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5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Holdings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62D2E-B6D4-3C7D-00FB-574079130F8A}"/>
              </a:ext>
            </a:extLst>
          </p:cNvPr>
          <p:cNvSpPr/>
          <p:nvPr userDrawn="1"/>
        </p:nvSpPr>
        <p:spPr>
          <a:xfrm>
            <a:off x="0" y="30344"/>
            <a:ext cx="5128643" cy="6797311"/>
          </a:xfrm>
          <a:prstGeom prst="rect">
            <a:avLst/>
          </a:prstGeom>
          <a:solidFill>
            <a:srgbClr val="0100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D9F836-6903-6A86-5D90-46F1728877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2" y="2343955"/>
            <a:ext cx="5085566" cy="28591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699" cy="6827655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0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Automotive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62D2E-B6D4-3C7D-00FB-574079130F8A}"/>
              </a:ext>
            </a:extLst>
          </p:cNvPr>
          <p:cNvSpPr/>
          <p:nvPr userDrawn="1"/>
        </p:nvSpPr>
        <p:spPr>
          <a:xfrm>
            <a:off x="0" y="30344"/>
            <a:ext cx="5128643" cy="6797311"/>
          </a:xfrm>
          <a:prstGeom prst="rect">
            <a:avLst/>
          </a:prstGeom>
          <a:solidFill>
            <a:srgbClr val="0100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699" cy="6827655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649A2E-86F2-6845-3C59-B6922843E6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64854"/>
            <a:ext cx="5128643" cy="288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64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Page - Automotive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46B54A-E040-6710-4590-E0E59300A1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277" b="1735"/>
          <a:stretch>
            <a:fillRect/>
          </a:stretch>
        </p:blipFill>
        <p:spPr>
          <a:xfrm>
            <a:off x="14308" y="0"/>
            <a:ext cx="5179991" cy="68367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699" cy="6827655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15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758B6D-6EBB-CC00-4F43-9AB2EB94A6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444"/>
          <a:stretch>
            <a:fillRect/>
          </a:stretch>
        </p:blipFill>
        <p:spPr>
          <a:xfrm>
            <a:off x="0" y="0"/>
            <a:ext cx="12192000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54997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392EE-1C26-C4F2-F0A9-3F2409E9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 sz="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E85E79-6903-6CE3-A505-FF6B7CC641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98022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92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4C43CA-3495-644D-D98D-2E6E4689A8EB}"/>
              </a:ext>
            </a:extLst>
          </p:cNvPr>
          <p:cNvSpPr txBox="1">
            <a:spLocks/>
          </p:cNvSpPr>
          <p:nvPr userDrawn="1"/>
        </p:nvSpPr>
        <p:spPr>
          <a:xfrm>
            <a:off x="190500" y="654997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13D4A1B-5ACA-3E74-1CEE-605312C21F76}"/>
              </a:ext>
            </a:extLst>
          </p:cNvPr>
          <p:cNvSpPr txBox="1">
            <a:spLocks/>
          </p:cNvSpPr>
          <p:nvPr userDrawn="1"/>
        </p:nvSpPr>
        <p:spPr>
          <a:xfrm>
            <a:off x="9179000" y="6525180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8299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D81B99A-BABE-1ADD-F058-8E077EC964F5}"/>
              </a:ext>
            </a:extLst>
          </p:cNvPr>
          <p:cNvSpPr/>
          <p:nvPr userDrawn="1"/>
        </p:nvSpPr>
        <p:spPr>
          <a:xfrm>
            <a:off x="4689105" y="11632"/>
            <a:ext cx="7502895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04800" dist="165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09EF03-0348-34AE-57D8-F5A0EA016C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57" y="0"/>
            <a:ext cx="4702506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DDF48D-8CA6-77FC-E2D5-BDD541B8E9E1}"/>
              </a:ext>
            </a:extLst>
          </p:cNvPr>
          <p:cNvSpPr txBox="1"/>
          <p:nvPr userDrawn="1"/>
        </p:nvSpPr>
        <p:spPr>
          <a:xfrm>
            <a:off x="5002620" y="214498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i="0" dirty="0">
                <a:latin typeface="Plus Jakarta Sans ExtraBold" pitchFamily="2" charset="77"/>
                <a:cs typeface="Plus Jakarta Sans ExtraBold" pitchFamily="2" charset="77"/>
              </a:rPr>
              <a:t>POV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40339-5070-35B1-EE09-16733EBC4343}"/>
              </a:ext>
            </a:extLst>
          </p:cNvPr>
          <p:cNvSpPr txBox="1"/>
          <p:nvPr userDrawn="1"/>
        </p:nvSpPr>
        <p:spPr>
          <a:xfrm>
            <a:off x="5002620" y="2449785"/>
            <a:ext cx="3321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800" b="1" i="0" dirty="0">
                <a:latin typeface="Plus Jakarta Sans ExtraBold" pitchFamily="2" charset="77"/>
                <a:cs typeface="Plus Jakarta Sans ExtraBold" pitchFamily="2" charset="77"/>
              </a:rPr>
              <a:t>Financial 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4503E5-6101-A5AD-8E8E-DCCDA70716A5}"/>
              </a:ext>
            </a:extLst>
          </p:cNvPr>
          <p:cNvSpPr txBox="1"/>
          <p:nvPr userDrawn="1"/>
        </p:nvSpPr>
        <p:spPr>
          <a:xfrm>
            <a:off x="5002620" y="3098266"/>
            <a:ext cx="69195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B524B-AACF-B077-1CB8-FE499CFB2E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470EFA2-8D25-668E-EA89-6B6C7AB3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0897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A8E8FD6-1E32-D5EC-6FE8-1D9A932BD5C5}"/>
              </a:ext>
            </a:extLst>
          </p:cNvPr>
          <p:cNvSpPr/>
          <p:nvPr userDrawn="1"/>
        </p:nvSpPr>
        <p:spPr>
          <a:xfrm>
            <a:off x="4726772" y="11632"/>
            <a:ext cx="7451580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04800" dist="165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FD4A8-4CD4-CDCC-B4F2-EBFF736764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6551"/>
            <a:ext cx="4689105" cy="6252140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EC0E2B-15F9-7E51-3011-CCDD7F5473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372815D-59FC-E33E-82BB-7D8E413A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CB03F-C43F-E84E-23CA-A46183F17B40}"/>
              </a:ext>
            </a:extLst>
          </p:cNvPr>
          <p:cNvSpPr txBox="1"/>
          <p:nvPr userDrawn="1"/>
        </p:nvSpPr>
        <p:spPr>
          <a:xfrm>
            <a:off x="5002620" y="214498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i="0" dirty="0">
                <a:latin typeface="Plus Jakarta Sans ExtraBold" pitchFamily="2" charset="77"/>
                <a:cs typeface="Plus Jakarta Sans ExtraBold" pitchFamily="2" charset="77"/>
              </a:rPr>
              <a:t>POV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FD4D1-B5EC-2C31-2B4D-B1635384FEFC}"/>
              </a:ext>
            </a:extLst>
          </p:cNvPr>
          <p:cNvSpPr txBox="1"/>
          <p:nvPr userDrawn="1"/>
        </p:nvSpPr>
        <p:spPr>
          <a:xfrm>
            <a:off x="5002620" y="2449785"/>
            <a:ext cx="2537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800" b="1" i="0" dirty="0">
                <a:latin typeface="Plus Jakarta Sans ExtraBold" pitchFamily="2" charset="77"/>
                <a:cs typeface="Plus Jakarta Sans ExtraBold" pitchFamily="2" charset="77"/>
              </a:rPr>
              <a:t>Public Sector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F0FA5-B082-851F-2285-675BA46C9EE3}"/>
              </a:ext>
            </a:extLst>
          </p:cNvPr>
          <p:cNvSpPr txBox="1"/>
          <p:nvPr userDrawn="1"/>
        </p:nvSpPr>
        <p:spPr>
          <a:xfrm>
            <a:off x="5002620" y="3098266"/>
            <a:ext cx="69195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</a:t>
            </a:r>
          </a:p>
        </p:txBody>
      </p:sp>
    </p:spTree>
    <p:extLst>
      <p:ext uri="{BB962C8B-B14F-4D97-AF65-F5344CB8AC3E}">
        <p14:creationId xmlns:p14="http://schemas.microsoft.com/office/powerpoint/2010/main" val="442998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000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392EE-1C26-C4F2-F0A9-3F2409E9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944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2CCC5F-726C-53EA-B291-26077ECBE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7" t="5056" r="-257" b="16806"/>
          <a:stretch>
            <a:fillRect/>
          </a:stretch>
        </p:blipFill>
        <p:spPr>
          <a:xfrm>
            <a:off x="6094223" y="-1"/>
            <a:ext cx="5839805" cy="68580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7F5111-193C-EB34-ED8A-09039DB1B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6410" y="-228361"/>
            <a:ext cx="2724178" cy="1816120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F1BBD4A-49F0-4F95-D932-831C81CD2EDF}"/>
              </a:ext>
            </a:extLst>
          </p:cNvPr>
          <p:cNvSpPr txBox="1">
            <a:spLocks/>
          </p:cNvSpPr>
          <p:nvPr userDrawn="1"/>
        </p:nvSpPr>
        <p:spPr>
          <a:xfrm>
            <a:off x="9179000" y="6525180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65433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D15CB-1E15-6F81-CB15-AF5AE2922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832"/>
          <a:stretch>
            <a:fillRect/>
          </a:stretch>
        </p:blipFill>
        <p:spPr>
          <a:xfrm>
            <a:off x="0" y="0"/>
            <a:ext cx="5790426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644752F-BCB4-3B68-C3E9-519ED9DB6F8E}"/>
              </a:ext>
            </a:extLst>
          </p:cNvPr>
          <p:cNvSpPr/>
          <p:nvPr userDrawn="1"/>
        </p:nvSpPr>
        <p:spPr>
          <a:xfrm>
            <a:off x="11444310" y="12700"/>
            <a:ext cx="753732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675A26-D752-4E06-A538-2C7195797AD5}"/>
              </a:ext>
            </a:extLst>
          </p:cNvPr>
          <p:cNvSpPr/>
          <p:nvPr userDrawn="1"/>
        </p:nvSpPr>
        <p:spPr>
          <a:xfrm>
            <a:off x="11656840" y="6356350"/>
            <a:ext cx="557273" cy="516362"/>
          </a:xfrm>
          <a:prstGeom prst="rect">
            <a:avLst/>
          </a:prstGeom>
          <a:gradFill flip="none" rotWithShape="1">
            <a:gsLst>
              <a:gs pos="85000">
                <a:srgbClr val="DF6A8F"/>
              </a:gs>
              <a:gs pos="0">
                <a:srgbClr val="5E7AFD"/>
              </a:gs>
              <a:gs pos="61000">
                <a:srgbClr val="C35BBA"/>
              </a:gs>
              <a:gs pos="37000">
                <a:srgbClr val="865ED9"/>
              </a:gs>
              <a:gs pos="100000">
                <a:srgbClr val="FC795F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3C0A53-42F8-3DED-A9D4-942514EDC003}"/>
              </a:ext>
            </a:extLst>
          </p:cNvPr>
          <p:cNvSpPr/>
          <p:nvPr userDrawn="1"/>
        </p:nvSpPr>
        <p:spPr>
          <a:xfrm>
            <a:off x="4517831" y="12700"/>
            <a:ext cx="7125224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04800" dist="165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1F141-BF62-FBBA-19C7-5E40177F9ED7}"/>
              </a:ext>
            </a:extLst>
          </p:cNvPr>
          <p:cNvSpPr txBox="1"/>
          <p:nvPr userDrawn="1"/>
        </p:nvSpPr>
        <p:spPr>
          <a:xfrm>
            <a:off x="9157365" y="539382"/>
            <a:ext cx="2196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3200" b="1" i="0" dirty="0">
                <a:latin typeface="Plus Jakarta Sans ExtraBold" pitchFamily="2" charset="77"/>
                <a:cs typeface="Plus Jakarta Sans ExtraBold" pitchFamily="2" charset="77"/>
              </a:rPr>
              <a:t>Team Bios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B8516-D32A-2DC3-05A6-4AAEFE2F0B12}"/>
              </a:ext>
            </a:extLst>
          </p:cNvPr>
          <p:cNvSpPr/>
          <p:nvPr userDrawn="1"/>
        </p:nvSpPr>
        <p:spPr>
          <a:xfrm>
            <a:off x="4216400" y="1670071"/>
            <a:ext cx="1041400" cy="1036686"/>
          </a:xfrm>
          <a:prstGeom prst="rect">
            <a:avLst/>
          </a:prstGeom>
          <a:gradFill flip="none" rotWithShape="1">
            <a:gsLst>
              <a:gs pos="0">
                <a:srgbClr val="5E7AFD"/>
              </a:gs>
              <a:gs pos="43000">
                <a:srgbClr val="865ED9"/>
              </a:gs>
              <a:gs pos="100000">
                <a:srgbClr val="FC795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DDDEB6-3B79-A9A4-0DE2-4A309C94DA15}"/>
              </a:ext>
            </a:extLst>
          </p:cNvPr>
          <p:cNvSpPr txBox="1"/>
          <p:nvPr userDrawn="1"/>
        </p:nvSpPr>
        <p:spPr>
          <a:xfrm>
            <a:off x="4341672" y="1545007"/>
            <a:ext cx="79085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sz="11500" b="1" i="0" dirty="0">
                <a:solidFill>
                  <a:schemeClr val="tx1"/>
                </a:solidFill>
                <a:latin typeface="Plus Jakarta Sans ExtraBold" pitchFamily="2" charset="77"/>
                <a:cs typeface="Plus Jakarta Sans ExtraBold" pitchFamily="2" charset="77"/>
              </a:rPr>
              <a:t>“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E09DF-DA1E-E43C-78DD-CCF70A8624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2D71575-9875-FF54-DA4C-8B6D61CF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7114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22860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31BC3-B1AC-9964-4986-CB74FDCC12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444"/>
          <a:stretch>
            <a:fillRect/>
          </a:stretch>
        </p:blipFill>
        <p:spPr>
          <a:xfrm>
            <a:off x="0" y="0"/>
            <a:ext cx="12192000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32B302-DA02-8196-8B47-F28AC4E297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98022" y="-228361"/>
            <a:ext cx="2724178" cy="1816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4F8AB-E047-AABE-D395-4544FE7591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9487" y="7132931"/>
            <a:ext cx="53778228" cy="23638776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4409FA-9B1E-1F22-2EDE-AFC396BB459D}"/>
              </a:ext>
            </a:extLst>
          </p:cNvPr>
          <p:cNvSpPr/>
          <p:nvPr userDrawn="1"/>
        </p:nvSpPr>
        <p:spPr>
          <a:xfrm>
            <a:off x="1569720" y="1473445"/>
            <a:ext cx="9052560" cy="4217212"/>
          </a:xfrm>
          <a:prstGeom prst="roundRect">
            <a:avLst>
              <a:gd name="adj" fmla="val 5826"/>
            </a:avLst>
          </a:prstGeom>
          <a:solidFill>
            <a:srgbClr val="000535">
              <a:alpha val="57000"/>
            </a:srgbClr>
          </a:solidFill>
          <a:ln>
            <a:gradFill flip="none" rotWithShape="1">
              <a:gsLst>
                <a:gs pos="85988">
                  <a:srgbClr val="5E7AFD"/>
                </a:gs>
                <a:gs pos="46005">
                  <a:srgbClr val="B364B3"/>
                </a:gs>
                <a:gs pos="0">
                  <a:srgbClr val="5E7AFD"/>
                </a:gs>
                <a:gs pos="24000">
                  <a:srgbClr val="DF6A8F"/>
                </a:gs>
                <a:gs pos="69000">
                  <a:srgbClr val="865ED9"/>
                </a:gs>
                <a:gs pos="100000">
                  <a:srgbClr val="FC795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33E253-16FB-7EFF-DE15-E2690B48B03F}"/>
              </a:ext>
            </a:extLst>
          </p:cNvPr>
          <p:cNvSpPr/>
          <p:nvPr userDrawn="1"/>
        </p:nvSpPr>
        <p:spPr>
          <a:xfrm rot="900000">
            <a:off x="5524775" y="890121"/>
            <a:ext cx="1166649" cy="1166649"/>
          </a:xfrm>
          <a:prstGeom prst="ellipse">
            <a:avLst/>
          </a:prstGeom>
          <a:solidFill>
            <a:schemeClr val="bg1">
              <a:alpha val="93000"/>
            </a:schemeClr>
          </a:solidFill>
          <a:ln>
            <a:gradFill flip="none" rotWithShape="1">
              <a:gsLst>
                <a:gs pos="85988">
                  <a:srgbClr val="5E7AFD"/>
                </a:gs>
                <a:gs pos="46005">
                  <a:srgbClr val="B364B3"/>
                </a:gs>
                <a:gs pos="0">
                  <a:srgbClr val="5E7AFD"/>
                </a:gs>
                <a:gs pos="24000">
                  <a:srgbClr val="DF6A8F"/>
                </a:gs>
                <a:gs pos="69000">
                  <a:srgbClr val="865ED9"/>
                </a:gs>
                <a:gs pos="100000">
                  <a:srgbClr val="FC795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40713-92AE-7505-9F0B-1F18761E5BC4}"/>
              </a:ext>
            </a:extLst>
          </p:cNvPr>
          <p:cNvSpPr txBox="1"/>
          <p:nvPr userDrawn="1"/>
        </p:nvSpPr>
        <p:spPr>
          <a:xfrm>
            <a:off x="5712671" y="823151"/>
            <a:ext cx="79085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sz="11500" b="1" i="0" dirty="0">
                <a:solidFill>
                  <a:srgbClr val="000535"/>
                </a:solidFill>
                <a:latin typeface="Plus Jakarta Sans ExtraBold" pitchFamily="2" charset="77"/>
                <a:cs typeface="Plus Jakarta Sans ExtraBold" pitchFamily="2" charset="77"/>
              </a:rPr>
              <a:t>“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6474BDA-6298-5446-5B86-7D40326B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 sz="800"/>
          </a:p>
        </p:txBody>
      </p:sp>
    </p:spTree>
    <p:extLst>
      <p:ext uri="{BB962C8B-B14F-4D97-AF65-F5344CB8AC3E}">
        <p14:creationId xmlns:p14="http://schemas.microsoft.com/office/powerpoint/2010/main" val="2165592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DCA1074-0FD2-9D12-FD59-E692DDD47D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23"/>
            <a:ext cx="12195244" cy="6856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39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>
            <a:defPPr>
              <a:defRPr lang="en-AE"/>
            </a:defPPr>
            <a:lvl1pPr lvl="0" algn="ctr">
              <a:defRPr b="0" i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pPr lvl="0"/>
            <a:r>
              <a:rPr lang="en-AE" b="1" dirty="0"/>
              <a:t>Abu</a:t>
            </a:r>
            <a:r>
              <a:rPr lang="en-AE" dirty="0"/>
              <a:t> </a:t>
            </a:r>
            <a:r>
              <a:rPr lang="en-AE" b="1" dirty="0"/>
              <a:t>Dhabi</a:t>
            </a:r>
            <a:r>
              <a:rPr lang="en-AE" dirty="0"/>
              <a:t>    |  Dubai    |     Riyadh     |    Istanbul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7453326" y="2506926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7592847" y="2453262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6998273" y="254126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875666" y="1508811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06127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CF0B0-85CB-C50C-2700-E20EB5D5B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39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>
            <a:defPPr>
              <a:defRPr lang="en-AE"/>
            </a:defPPr>
            <a:lvl1pPr lvl="0" algn="ctr">
              <a:defRPr b="0" i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pPr lvl="0"/>
            <a:r>
              <a:rPr lang="en-AE" b="1" dirty="0"/>
              <a:t>Dubai</a:t>
            </a:r>
            <a:r>
              <a:rPr lang="en-AE" dirty="0"/>
              <a:t>    |  Abu Dhabi    |     Riyadh     |    Istanbul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7453326" y="2532684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7592847" y="2479020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6998273" y="254126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837029" y="1508811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5191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6C7BC-8E8B-25DB-1661-A024C02AB8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44" y="-1"/>
            <a:ext cx="12186955" cy="6851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41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AE" b="1" i="0" dirty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rPr>
              <a:t>Riyadh</a:t>
            </a:r>
            <a:r>
              <a:rPr lang="en-AE" b="0" i="0" dirty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rPr>
              <a:t>    |  Abu Dhabi    |     Dubai     |    Istanbul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7826813" y="3176631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7966334" y="312296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7178575" y="3185214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721118" y="1753512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6676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E66C1B-BD5D-8823-F7A4-F33DF335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656" y="0"/>
            <a:ext cx="12163343" cy="6838242"/>
          </a:xfrm>
          <a:prstGeom prst="rect">
            <a:avLst/>
          </a:prstGeom>
          <a:solidFill>
            <a:srgbClr val="01061D">
              <a:alpha val="77791"/>
            </a:srgb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42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>
            <a:defPPr>
              <a:defRPr lang="en-AE"/>
            </a:defPPr>
            <a:lvl1pPr algn="ctr">
              <a:defRPr b="0" i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pPr lvl="0"/>
            <a:r>
              <a:rPr lang="en-AE" b="1" dirty="0"/>
              <a:t>Istanbul</a:t>
            </a:r>
            <a:r>
              <a:rPr lang="en-AE" dirty="0"/>
              <a:t>    |  Abu Dhabi    |     Dubai     |    Riyadh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8393486" y="366602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8533007" y="3612363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7745248" y="4048099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914303" y="2333058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059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430B1-11D9-F0A7-E65E-EB9A1E5B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B30AE-661C-D3C9-088B-CD38C4E0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5CB86-E8F3-1996-9648-0E0A5BC5F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171B-3C1D-396E-DB7D-EDD75506E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25B43-1607-FB3A-3CF6-F925B7F95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20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60" r:id="rId13"/>
    <p:sldLayoutId id="2147483655" r:id="rId14"/>
    <p:sldLayoutId id="2147483661" r:id="rId15"/>
    <p:sldLayoutId id="2147483662" r:id="rId16"/>
    <p:sldLayoutId id="2147483664" r:id="rId17"/>
    <p:sldLayoutId id="2147483665" r:id="rId18"/>
    <p:sldLayoutId id="2147483663" r:id="rId19"/>
    <p:sldLayoutId id="2147483666" r:id="rId20"/>
    <p:sldLayoutId id="2147483667" r:id="rId21"/>
    <p:sldLayoutId id="2147483669" r:id="rId22"/>
    <p:sldLayoutId id="2147483668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A3687-6C3F-27D7-9BA3-EA6F1B85B565}"/>
              </a:ext>
            </a:extLst>
          </p:cNvPr>
          <p:cNvSpPr txBox="1"/>
          <p:nvPr/>
        </p:nvSpPr>
        <p:spPr>
          <a:xfrm>
            <a:off x="413147" y="1670071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i="0" dirty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rPr>
              <a:t>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F1C28-C5E2-B11D-A3CE-A81C1C0466AA}"/>
              </a:ext>
            </a:extLst>
          </p:cNvPr>
          <p:cNvSpPr txBox="1"/>
          <p:nvPr/>
        </p:nvSpPr>
        <p:spPr>
          <a:xfrm>
            <a:off x="413147" y="208917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b="1" dirty="0">
                <a:gradFill flip="none" rotWithShape="1">
                  <a:gsLst>
                    <a:gs pos="0">
                      <a:srgbClr val="5E7AFD"/>
                    </a:gs>
                    <a:gs pos="39000">
                      <a:srgbClr val="865ED9"/>
                    </a:gs>
                    <a:gs pos="67000">
                      <a:srgbClr val="C35BBA"/>
                    </a:gs>
                    <a:gs pos="100000">
                      <a:srgbClr val="FC795F"/>
                    </a:gs>
                  </a:gsLst>
                  <a:lin ang="0" scaled="1"/>
                  <a:tileRect/>
                </a:gradFill>
                <a:latin typeface="Plus Jakarta Sans ExtraBold" pitchFamily="2" charset="77"/>
                <a:ea typeface="+mj-ea"/>
                <a:cs typeface="Plus Jakarta Sans ExtraBold" pitchFamily="2" charset="77"/>
              </a:rPr>
              <a:t>Title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FB4E2-9643-2BAD-255C-D8ABB869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745" y="2980249"/>
            <a:ext cx="319532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My work spans three interconnected practices: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Agentic Enterprise Transformation — redesigning organizations to operate with AI-native workflows and autonomous decision layers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Data &amp; AI Foundations — building the data architecture, governance, and AI capabilities that make transformation durable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SDLC &amp; Legacy Modernization — accelerating engineering transformation and retiring technical debt through AI-augmented delivery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DB484-E4F1-4A72-D937-8DD32199308D}"/>
              </a:ext>
            </a:extLst>
          </p:cNvPr>
          <p:cNvSpPr txBox="1"/>
          <p:nvPr/>
        </p:nvSpPr>
        <p:spPr>
          <a:xfrm>
            <a:off x="5233356" y="1650376"/>
            <a:ext cx="6120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600" b="1" i="0">
                <a:solidFill>
                  <a:schemeClr val="tx1"/>
                </a:solidFill>
                <a:latin typeface="Plus Jakarta Sans ExtraBold" pitchFamily="2" charset="77"/>
                <a:cs typeface="Plus Jakarta Sans ExtraBold" pitchFamily="2" charset="77"/>
              </a:rPr>
              <a:t>Provide a quotation about your AI POV here.</a:t>
            </a:r>
            <a:endParaRPr lang="en-AE" sz="1600" b="1" i="0" dirty="0">
              <a:solidFill>
                <a:schemeClr val="tx1"/>
              </a:solidFill>
              <a:latin typeface="Plus Jakarta Sans ExtraBold" pitchFamily="2" charset="77"/>
              <a:cs typeface="Plus Jakarta Sans ExtraBold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CFAAC-2DAF-8501-F47A-8A4F88CCFF8F}"/>
              </a:ext>
            </a:extLst>
          </p:cNvPr>
          <p:cNvSpPr txBox="1"/>
          <p:nvPr/>
        </p:nvSpPr>
        <p:spPr>
          <a:xfrm>
            <a:off x="361159" y="2931781"/>
            <a:ext cx="3601685" cy="2851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E" sz="1100" b="0" i="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For 36 years, I’ve helped enterprises and government institutions navigate the inflection points that define their next decade. Today, that means building the intersection of Data &amp; AI Strategy, Agentic Transformation, Legacy Modernization and SDLC AI into integrated programs that actually move organizations forward.</a:t>
            </a:r>
          </a:p>
          <a:p>
            <a:pPr>
              <a:lnSpc>
                <a:spcPct val="150000"/>
              </a:lnSpc>
            </a:pPr>
            <a:endParaRPr lang="en-AE" sz="1100" b="0" i="0" dirty="0">
              <a:solidFill>
                <a:schemeClr val="bg1"/>
              </a:solidFill>
              <a:latin typeface="Plus Jakarta Sans ExtraLight" pitchFamily="2" charset="77"/>
              <a:cs typeface="Plus Jakarta Sans ExtraLight" pitchFamily="2" charset="77"/>
            </a:endParaRPr>
          </a:p>
          <a:p>
            <a:pPr>
              <a:lnSpc>
                <a:spcPct val="150000"/>
              </a:lnSpc>
            </a:pPr>
            <a:r>
              <a:rPr lang="en-AE" sz="1100" b="0" i="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I’ve worked with government department, banks, telecoms, health, retail and large conglomerates across the MENAT region.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8684D7E-BF55-748C-DCB6-917620F89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474" y="2980249"/>
            <a:ext cx="319532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Some of the clients that I have worked with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UAE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ADCB | ADIB | Etisalat | PMO | Al Tayer Group | RERA | DM | DLD | ADEO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KSA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Al Rajhi Bank | SNB | PIF | Tasama | STC | HRSD | MoH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Turkey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Dogus Group | Boyner Group | Sabanci Holding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748664-3B1A-0EFF-389C-134C2F8D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9440"/>
            <a:ext cx="2743200" cy="365125"/>
          </a:xfrm>
        </p:spPr>
        <p:txBody>
          <a:bodyPr/>
          <a:lstStyle/>
          <a:p>
            <a:fld id="{9C164DB0-F2AF-914A-B9E8-74CB8108BCA3}" type="slidenum">
              <a:rPr lang="en-AE" smtClean="0"/>
              <a:pPr/>
              <a:t>1</a:t>
            </a:fld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6BFBDF-88C7-5056-A4FD-09ACB4F90255}"/>
              </a:ext>
            </a:extLst>
          </p:cNvPr>
          <p:cNvSpPr/>
          <p:nvPr/>
        </p:nvSpPr>
        <p:spPr>
          <a:xfrm>
            <a:off x="2428780" y="1363599"/>
            <a:ext cx="1413164" cy="1413164"/>
          </a:xfrm>
          <a:prstGeom prst="ellipse">
            <a:avLst/>
          </a:prstGeom>
          <a:solidFill>
            <a:schemeClr val="bg1">
              <a:alpha val="93000"/>
            </a:schemeClr>
          </a:solidFill>
          <a:ln>
            <a:gradFill flip="none" rotWithShape="1">
              <a:gsLst>
                <a:gs pos="85988">
                  <a:srgbClr val="5E7AFD"/>
                </a:gs>
                <a:gs pos="46005">
                  <a:srgbClr val="B364B3"/>
                </a:gs>
                <a:gs pos="0">
                  <a:srgbClr val="5E7AFD"/>
                </a:gs>
                <a:gs pos="24000">
                  <a:srgbClr val="DF6A8F"/>
                </a:gs>
                <a:gs pos="69000">
                  <a:srgbClr val="865ED9"/>
                </a:gs>
                <a:gs pos="100000">
                  <a:srgbClr val="FC795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900" dirty="0">
                <a:solidFill>
                  <a:schemeClr val="accent2"/>
                </a:solidFill>
              </a:rPr>
              <a:t>Provide photo with white background so we can format it and insert it here</a:t>
            </a:r>
          </a:p>
        </p:txBody>
      </p:sp>
    </p:spTree>
    <p:extLst>
      <p:ext uri="{BB962C8B-B14F-4D97-AF65-F5344CB8AC3E}">
        <p14:creationId xmlns:p14="http://schemas.microsoft.com/office/powerpoint/2010/main" val="195500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6022</TotalTime>
  <Words>209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Plus Jakarta Sans ExtraBold</vt:lpstr>
      <vt:lpstr>Plus Jakarta Sans ExtraLight</vt:lpstr>
      <vt:lpstr>Plus Jakarta Sans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Mounir Ariss</dc:creator>
  <cp:lastModifiedBy>Mounir Ariss</cp:lastModifiedBy>
  <cp:revision>15</cp:revision>
  <dcterms:created xsi:type="dcterms:W3CDTF">2026-05-31T14:34:57Z</dcterms:created>
  <dcterms:modified xsi:type="dcterms:W3CDTF">2026-06-18T11:50:57Z</dcterms:modified>
</cp:coreProperties>
</file>