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5" r:id="rId3"/>
    <p:sldId id="276" r:id="rId4"/>
    <p:sldId id="280" r:id="rId5"/>
    <p:sldId id="281" r:id="rId6"/>
    <p:sldId id="282" r:id="rId7"/>
    <p:sldId id="270" r:id="rId8"/>
    <p:sldId id="283" r:id="rId9"/>
    <p:sldId id="279" r:id="rId10"/>
    <p:sldId id="262" r:id="rId11"/>
    <p:sldId id="263" r:id="rId12"/>
    <p:sldId id="264" r:id="rId13"/>
    <p:sldId id="265" r:id="rId14"/>
    <p:sldId id="274" r:id="rId15"/>
    <p:sldId id="266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A623"/>
    <a:srgbClr val="1E5A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463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49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LABS OF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6583680" y="146304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49440" y="146304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0" y="146304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80960" y="146304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046720" y="146304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0" y="18288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0" y="18288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0" y="219456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80960" y="219456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83680" y="256032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0" y="256032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80960" y="256032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49440" y="292608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46720" y="292608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0" y="3291840"/>
            <a:ext cx="128016" cy="128016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80960" y="3291840"/>
            <a:ext cx="128016" cy="128016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AI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19202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AI ambition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4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production.</a:t>
            </a:r>
            <a:endParaRPr lang="en-US" sz="48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36576" cy="2926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657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boutique AI advisory and engineering services firm — built for outcomes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concept 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310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— AGENTIC ENTERPRISE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enterprise doesn't use AI. It </a:t>
            </a: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it.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32413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5A623">
              <a:alpha val="15000"/>
            </a:srgbClr>
          </a:solidFill>
          <a:ln w="9525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3241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where AI agents — not workflows, not chatbots — own end-to-end work: deciding, acting, learning, and coordinating with humans and other agents in production.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AI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0" y="20116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ENTERPRISE — TAHAKOM EXAMPLES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38328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" y="235915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assist humans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" y="2578608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ANPR camera flags a violation. A human officer reviews and decides.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86200" y="2286000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97680" y="2286000"/>
            <a:ext cx="438912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43984" y="235915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own outcomes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43984" y="2578608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detects the violation, validates evidence, applies policy, issues the citation, and notifies the driver — humans review only edge cases.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338328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" y="3127248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" y="334670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RPA bot copies vehicle data from one system to another on a fixed schedule.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86200" y="3054096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97680" y="3054096"/>
            <a:ext cx="438912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43984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Goal-directed action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43984" y="3346704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ingests a multi-vehicle incident, decides who to dispatch, reroutes traffic signals, alerts hospitals, and adapts as the situation evolves.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822192"/>
            <a:ext cx="338328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3504" y="389534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pilots, decisions in PowerPoint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3504" y="411480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traffic-flow dashboard shows yesterday's congestion patterns to a planning team.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86200" y="3822192"/>
            <a:ext cx="365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97680" y="3822192"/>
            <a:ext cx="4389120" cy="713232"/>
          </a:xfrm>
          <a:prstGeom prst="roundRect">
            <a:avLst>
              <a:gd name="adj" fmla="val 1025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43984" y="3895344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production, decisions in real time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443984" y="4114800"/>
            <a:ext cx="4096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reroutes signals across Riyadh during a sandstorm in seconds — no human in the loop.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736592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3504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every CEO wants to build. Almost no one is moving it beyond the POC.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5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310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demands three </a:t>
            </a: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shifts in the business model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professional services firms.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33472" cy="2377440"/>
          </a:xfrm>
          <a:prstGeom prst="roundRect">
            <a:avLst>
              <a:gd name="adj" fmla="val 307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SHIFT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2679192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experimentation to value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329184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organizations are looking for impactful transformation. Others, in crisis, are looking for quick-to-impact assets. POCs are the starting point, not the end goal.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55264" y="1965960"/>
            <a:ext cx="2633472" cy="2377440"/>
          </a:xfrm>
          <a:prstGeom prst="roundRect">
            <a:avLst>
              <a:gd name="adj" fmla="val 307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56432" y="21671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56432" y="2423160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SHIFT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56432" y="2679192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strategy to execution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56432" y="329184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national vision (PIF 2026–2030, Vision 2030, UAE AI Charter) and boards looking for execution and impact. Both reward execution, not announcements. 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53328" y="1965960"/>
            <a:ext cx="2633472" cy="2377440"/>
          </a:xfrm>
          <a:prstGeom prst="roundRect">
            <a:avLst>
              <a:gd name="adj" fmla="val 307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54496" y="21671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2423160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SHIFT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54496" y="2679192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man-days to outcomes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54496" y="329184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has shifted from CIO to CFO and CEO. Procurement becoming </a:t>
            </a: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outcome-based.</a:t>
            </a:r>
          </a:p>
        </p:txBody>
      </p:sp>
      <p:sp>
        <p:nvSpPr>
          <p:cNvPr id="20" name="Shape 18"/>
          <p:cNvSpPr/>
          <p:nvPr/>
        </p:nvSpPr>
        <p:spPr>
          <a:xfrm>
            <a:off x="457200" y="4736592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 is clear and the demand is real. The bottleneck is execution — and that is where most providers fail.</a:t>
            </a:r>
            <a:endParaRPr 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F524E6-BE46-D3E7-DD46-C07B23778056}"/>
              </a:ext>
            </a:extLst>
          </p:cNvPr>
          <p:cNvSpPr txBox="1"/>
          <p:nvPr/>
        </p:nvSpPr>
        <p:spPr>
          <a:xfrm>
            <a:off x="9324209" y="395755"/>
            <a:ext cx="36022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1"/>
                </a:solidFill>
              </a:rPr>
              <a:t>We sell the story, we convince with out engineering capability, we differentiate by prototyping rather than slideware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310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GAPS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providers cannot close the gap between AI ambition and </a:t>
            </a: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production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fast enough.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046220" cy="1165860"/>
          </a:xfrm>
          <a:prstGeom prst="roundRect">
            <a:avLst>
              <a:gd name="adj" fmla="val 627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937821" y="2125356"/>
            <a:ext cx="343501" cy="343501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109" y="2202644"/>
            <a:ext cx="188925" cy="1889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084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8368" y="2331720"/>
            <a:ext cx="3040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purgatory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" y="2612577"/>
            <a:ext cx="364388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POCs, no production path. The fix is governance plus orchestration plus change leadership — work the Tier-1 margin model rejects.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40580" y="1920240"/>
            <a:ext cx="4046220" cy="1165860"/>
          </a:xfrm>
          <a:prstGeom prst="roundRect">
            <a:avLst>
              <a:gd name="adj" fmla="val 627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121201" y="2125356"/>
            <a:ext cx="343501" cy="343501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8489" y="2202644"/>
            <a:ext cx="188925" cy="1889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1748" y="2084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841748" y="2331720"/>
            <a:ext cx="3040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41748" y="2612577"/>
            <a:ext cx="364388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IT spend trapped in maintenance. Spec-from-legacy plus AI-driven SDLC is the path. Almost no one delivers it on-prem — what sovereign clients require.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7200" y="3223260"/>
            <a:ext cx="4046220" cy="1165860"/>
          </a:xfrm>
          <a:prstGeom prst="roundRect">
            <a:avLst>
              <a:gd name="adj" fmla="val 627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937821" y="3428376"/>
            <a:ext cx="343501" cy="343501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109" y="3505664"/>
            <a:ext cx="188925" cy="1889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8368" y="33878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58368" y="3634740"/>
            <a:ext cx="3040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governance vacuum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58368" y="3915597"/>
            <a:ext cx="364388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exposes data debt instantly. Big-4 sells strategy, hyperscalers sell tools. No one delivers the operating activation that makes agents trustworthy.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640580" y="3223260"/>
            <a:ext cx="4046220" cy="1165860"/>
          </a:xfrm>
          <a:prstGeom prst="roundRect">
            <a:avLst>
              <a:gd name="adj" fmla="val 627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8121201" y="3428376"/>
            <a:ext cx="343501" cy="343501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8489" y="3505664"/>
            <a:ext cx="188925" cy="18892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41748" y="33878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841748" y="3634740"/>
            <a:ext cx="30403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Pricing-to-value mismatch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841748" y="3915597"/>
            <a:ext cx="364388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rate cards presuppose 1:8 senior-to-junior pyramids. Clients now know the seniors aren't on the work. The premium is no longer matched.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57200" y="4736592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603504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operating-model gaps, not capability gaps. A firm built differently can structurally beat the incumbents.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5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310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MAVEN AI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AI takes clients from AI ambition to </a:t>
            </a: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production.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550822" cy="2377440"/>
          </a:xfrm>
          <a:prstGeom prst="roundRect">
            <a:avLst>
              <a:gd name="adj" fmla="val 4717"/>
            </a:avLst>
          </a:prstGeom>
          <a:solidFill>
            <a:srgbClr val="F5A623">
              <a:alpha val="12000"/>
            </a:srgbClr>
          </a:solidFill>
          <a:ln w="9525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8291" y="2167128"/>
            <a:ext cx="548640" cy="548640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" y="2290572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834640"/>
            <a:ext cx="12216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85216" y="3044952"/>
            <a:ext cx="12947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Production-led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1792" y="3474720"/>
            <a:ext cx="12216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deliver AI in production, not AI in PowerPoint. Measured outcomes, not advisory.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126894" y="1965960"/>
            <a:ext cx="1550822" cy="2377440"/>
          </a:xfrm>
          <a:prstGeom prst="roundRect">
            <a:avLst>
              <a:gd name="adj" fmla="val 471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627986" y="2167128"/>
            <a:ext cx="548640" cy="548640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430" y="2290572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91486" y="2834640"/>
            <a:ext cx="12216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254910" y="3044952"/>
            <a:ext cx="12947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by design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291486" y="3474720"/>
            <a:ext cx="12216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partners and principals on every engagement. No pyramid, no bench-warming.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796589" y="1965960"/>
            <a:ext cx="1550822" cy="2377440"/>
          </a:xfrm>
          <a:prstGeom prst="roundRect">
            <a:avLst>
              <a:gd name="adj" fmla="val 471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297680" y="2167128"/>
            <a:ext cx="548640" cy="548640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1124" y="2290572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61181" y="2834640"/>
            <a:ext cx="12216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3924605" y="3044952"/>
            <a:ext cx="12947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Agentic-native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961181" y="3474720"/>
            <a:ext cx="12216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agentic AI as the operating fabric. Not retrofitted onto a legacy services model.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5466283" y="1965960"/>
            <a:ext cx="1550822" cy="2377440"/>
          </a:xfrm>
          <a:prstGeom prst="roundRect">
            <a:avLst>
              <a:gd name="adj" fmla="val 471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5967374" y="2167128"/>
            <a:ext cx="548640" cy="548640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0818" y="2290572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30875" y="2834640"/>
            <a:ext cx="12216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594299" y="3044952"/>
            <a:ext cx="12947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economics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630875" y="3474720"/>
            <a:ext cx="12216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structure plus partner leverage delivers what Tier-1 cost bases cannot match.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7135978" y="1965960"/>
            <a:ext cx="1550822" cy="2377440"/>
          </a:xfrm>
          <a:prstGeom prst="roundRect">
            <a:avLst>
              <a:gd name="adj" fmla="val 471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7637069" y="2167128"/>
            <a:ext cx="548640" cy="548640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0513" y="2290572"/>
            <a:ext cx="301752" cy="30175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00570" y="2834640"/>
            <a:ext cx="12216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7263994" y="3044952"/>
            <a:ext cx="12947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Platform-agnostic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7300570" y="3474720"/>
            <a:ext cx="12216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pick the right stack. Our economics aren't tied to any vendor, and our advice isn't either.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57200" y="4736592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603504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design choices that, together, make Maven AI structurally better at this work — by category, not by margin.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5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6"/>
          <p:cNvSpPr/>
          <p:nvPr/>
        </p:nvSpPr>
        <p:spPr>
          <a:xfrm>
            <a:off x="1645920" y="1261872"/>
            <a:ext cx="5623560" cy="573541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1645920" y="1927180"/>
            <a:ext cx="5623560" cy="573541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1645920" y="2553059"/>
            <a:ext cx="5623560" cy="573541"/>
          </a:xfrm>
          <a:prstGeom prst="roundRect">
            <a:avLst>
              <a:gd name="adj" fmla="val 12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1645920" y="3257795"/>
            <a:ext cx="5623560" cy="573541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5A62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457200" y="411480"/>
            <a:ext cx="164592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310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layers — plus a sidecar </a:t>
            </a: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legacy estates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051560" cy="3264408"/>
          </a:xfrm>
          <a:prstGeom prst="roundRect">
            <a:avLst>
              <a:gd name="adj" fmla="val 5455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9855" y="19711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89855" y="21540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Trust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9583" y="2583828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27599" y="251982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Identity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9583" y="2967876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7599" y="290386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9583" y="335192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7599" y="328791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Ethics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9583" y="373597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7599" y="3671964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Policy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9583" y="412002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7599" y="4056012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764792" y="1388582"/>
            <a:ext cx="292608" cy="292608"/>
          </a:xfrm>
          <a:prstGeom prst="ellipse">
            <a:avLst/>
          </a:prstGeom>
          <a:solidFill>
            <a:srgbClr val="F5A62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629" y="1454419"/>
            <a:ext cx="160934" cy="16093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148839" y="137029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CHANGE MANAGEMEN, ADOPTION &amp; UPSKILLING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148840" y="1540112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redesign, role redesign, training. Lands the agent inside the organization.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764792" y="2082224"/>
            <a:ext cx="292608" cy="292608"/>
          </a:xfrm>
          <a:prstGeom prst="ellipse">
            <a:avLst/>
          </a:prstGeom>
          <a:solidFill>
            <a:srgbClr val="F5A62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629" y="2148061"/>
            <a:ext cx="160934" cy="16093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148839" y="206393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AGENTIC AI</a:t>
            </a:r>
          </a:p>
        </p:txBody>
      </p:sp>
      <p:sp>
        <p:nvSpPr>
          <p:cNvPr id="29" name="Text 25"/>
          <p:cNvSpPr/>
          <p:nvPr/>
        </p:nvSpPr>
        <p:spPr>
          <a:xfrm>
            <a:off x="2148840" y="2246816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agents that decide, act, learn, coordinate.</a:t>
            </a:r>
          </a:p>
        </p:txBody>
      </p:sp>
      <p:sp>
        <p:nvSpPr>
          <p:cNvPr id="31" name="Shape 27"/>
          <p:cNvSpPr/>
          <p:nvPr/>
        </p:nvSpPr>
        <p:spPr>
          <a:xfrm>
            <a:off x="1764792" y="2730143"/>
            <a:ext cx="292608" cy="292608"/>
          </a:xfrm>
          <a:prstGeom prst="ellipse">
            <a:avLst/>
          </a:prstGeom>
          <a:solidFill>
            <a:srgbClr val="F5A62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0629" y="2795980"/>
            <a:ext cx="160934" cy="16093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2148839" y="2711854"/>
            <a:ext cx="3108960" cy="258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DATA &amp; AI FOUNDATIONS</a:t>
            </a:r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2148840" y="2855307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Lineage, masters, knowledge, governed context. Everything else stands on this.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1764792" y="3397653"/>
            <a:ext cx="292608" cy="292608"/>
          </a:xfrm>
          <a:prstGeom prst="ellipse">
            <a:avLst/>
          </a:prstGeom>
          <a:solidFill>
            <a:srgbClr val="F5A62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0629" y="3463490"/>
            <a:ext cx="160934" cy="16093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2148839" y="3379365"/>
            <a:ext cx="225334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 — VALUE CASE CREATION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2148840" y="3542652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Outcome-led shaping. Quantified business case before code. The decision that makes everything else worth building.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1645920" y="3941064"/>
            <a:ext cx="5623560" cy="566928"/>
          </a:xfrm>
          <a:prstGeom prst="roundRect">
            <a:avLst>
              <a:gd name="adj" fmla="val 16589"/>
            </a:avLst>
          </a:prstGeom>
          <a:solidFill>
            <a:srgbClr val="164974">
              <a:alpha val="70000"/>
            </a:srgbClr>
          </a:solidFill>
          <a:ln w="6350">
            <a:solidFill>
              <a:srgbClr val="F5A623">
                <a:alpha val="2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1764792" y="4078224"/>
            <a:ext cx="292608" cy="292608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0629" y="4144061"/>
            <a:ext cx="160934" cy="160934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2148840" y="4044258"/>
            <a:ext cx="4983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— LEGACY MODERNIZATION &amp; SDLC AUTOMATION</a:t>
            </a:r>
            <a:endParaRPr lang="en-US" sz="750" dirty="0">
              <a:solidFill>
                <a:srgbClr val="F5A623"/>
              </a:solidFill>
            </a:endParaRPr>
          </a:p>
        </p:txBody>
      </p:sp>
      <p:sp>
        <p:nvSpPr>
          <p:cNvPr id="46" name="Text 39"/>
          <p:cNvSpPr/>
          <p:nvPr/>
        </p:nvSpPr>
        <p:spPr>
          <a:xfrm>
            <a:off x="2148840" y="4151376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2148840" y="4210167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Spec-from-legacy and AI-driven engineering. Unlocks systems agents need to act on.</a:t>
            </a:r>
          </a:p>
        </p:txBody>
      </p:sp>
      <p:sp>
        <p:nvSpPr>
          <p:cNvPr id="48" name="Shape 41"/>
          <p:cNvSpPr/>
          <p:nvPr/>
        </p:nvSpPr>
        <p:spPr>
          <a:xfrm>
            <a:off x="7407948" y="1261872"/>
            <a:ext cx="1252728" cy="3236976"/>
          </a:xfrm>
          <a:prstGeom prst="roundRect">
            <a:avLst>
              <a:gd name="adj" fmla="val 4380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7851432" y="1528356"/>
            <a:ext cx="365760" cy="365760"/>
          </a:xfrm>
          <a:prstGeom prst="ellipse">
            <a:avLst/>
          </a:prstGeom>
          <a:solidFill>
            <a:srgbClr val="F5A62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3728" y="1610652"/>
            <a:ext cx="201168" cy="201168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7407948" y="1971180"/>
            <a:ext cx="1252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</a:p>
        </p:txBody>
      </p:sp>
      <p:sp>
        <p:nvSpPr>
          <p:cNvPr id="52" name="Text 44"/>
          <p:cNvSpPr/>
          <p:nvPr/>
        </p:nvSpPr>
        <p:spPr>
          <a:xfrm>
            <a:off x="7407948" y="2154060"/>
            <a:ext cx="1252728" cy="20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 Studio</a:t>
            </a:r>
          </a:p>
        </p:txBody>
      </p:sp>
      <p:sp>
        <p:nvSpPr>
          <p:cNvPr id="53" name="Text 45"/>
          <p:cNvSpPr/>
          <p:nvPr/>
        </p:nvSpPr>
        <p:spPr>
          <a:xfrm>
            <a:off x="7643076" y="2566854"/>
            <a:ext cx="9091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Productized solutions assembled across all layers.</a:t>
            </a:r>
          </a:p>
        </p:txBody>
      </p:sp>
      <p:sp>
        <p:nvSpPr>
          <p:cNvPr id="54" name="Text 46"/>
          <p:cNvSpPr/>
          <p:nvPr/>
        </p:nvSpPr>
        <p:spPr>
          <a:xfrm>
            <a:off x="7643076" y="3259187"/>
            <a:ext cx="9091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IP that compounds engagement-over-engagement.</a:t>
            </a:r>
          </a:p>
        </p:txBody>
      </p:sp>
      <p:sp>
        <p:nvSpPr>
          <p:cNvPr id="55" name="Shape 47"/>
          <p:cNvSpPr/>
          <p:nvPr/>
        </p:nvSpPr>
        <p:spPr>
          <a:xfrm>
            <a:off x="457200" y="4736592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8"/>
          <p:cNvSpPr/>
          <p:nvPr/>
        </p:nvSpPr>
        <p:spPr>
          <a:xfrm>
            <a:off x="603504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case at the bottom, adoption at the top — agents only matter if they ship and stick. Foundations and agents are universal; legacy modernization unlocks systems most regional clients depend on; SDLC automation cuts development lifecycle by 40-50% and reduces costs by 20-30%.</a:t>
            </a:r>
            <a:endParaRPr lang="en-US" sz="1000" dirty="0"/>
          </a:p>
        </p:txBody>
      </p:sp>
      <p:sp>
        <p:nvSpPr>
          <p:cNvPr id="58" name="Shape 42">
            <a:extLst>
              <a:ext uri="{FF2B5EF4-FFF2-40B4-BE49-F238E27FC236}">
                <a16:creationId xmlns:a16="http://schemas.microsoft.com/office/drawing/2014/main" id="{1E80C6BF-E76B-08E6-271F-5B1FFEE7318C}"/>
              </a:ext>
            </a:extLst>
          </p:cNvPr>
          <p:cNvSpPr/>
          <p:nvPr/>
        </p:nvSpPr>
        <p:spPr>
          <a:xfrm>
            <a:off x="773566" y="1537066"/>
            <a:ext cx="365760" cy="365760"/>
          </a:xfrm>
          <a:prstGeom prst="ellipse">
            <a:avLst/>
          </a:prstGeom>
          <a:solidFill>
            <a:srgbClr val="F5A62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0" name="Image 3" descr="preencoded.png">
            <a:extLst>
              <a:ext uri="{FF2B5EF4-FFF2-40B4-BE49-F238E27FC236}">
                <a16:creationId xmlns:a16="http://schemas.microsoft.com/office/drawing/2014/main" id="{7E414284-8FB6-CB13-FD66-A4638CE518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984" y="1625484"/>
            <a:ext cx="188925" cy="188925"/>
          </a:xfrm>
          <a:prstGeom prst="rect">
            <a:avLst/>
          </a:prstGeom>
        </p:spPr>
      </p:pic>
      <p:sp>
        <p:nvSpPr>
          <p:cNvPr id="61" name="Shape 6">
            <a:extLst>
              <a:ext uri="{FF2B5EF4-FFF2-40B4-BE49-F238E27FC236}">
                <a16:creationId xmlns:a16="http://schemas.microsoft.com/office/drawing/2014/main" id="{7BCD6989-4854-405C-9D38-CBBEE628D73B}"/>
              </a:ext>
            </a:extLst>
          </p:cNvPr>
          <p:cNvSpPr/>
          <p:nvPr/>
        </p:nvSpPr>
        <p:spPr>
          <a:xfrm>
            <a:off x="7518524" y="2683978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10">
            <a:extLst>
              <a:ext uri="{FF2B5EF4-FFF2-40B4-BE49-F238E27FC236}">
                <a16:creationId xmlns:a16="http://schemas.microsoft.com/office/drawing/2014/main" id="{32E18E8D-22A8-AED2-A073-D89FD3191A5E}"/>
              </a:ext>
            </a:extLst>
          </p:cNvPr>
          <p:cNvSpPr/>
          <p:nvPr/>
        </p:nvSpPr>
        <p:spPr>
          <a:xfrm>
            <a:off x="7518524" y="3367167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5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310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MAVEN AI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are buying generalists. The work needs </a:t>
            </a: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and shapers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1762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AI</a:t>
            </a:r>
            <a:endParaRPr lang="en-US" sz="9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42E9562-EE9D-C3FF-391E-21EC96356C85}"/>
              </a:ext>
            </a:extLst>
          </p:cNvPr>
          <p:cNvGrpSpPr/>
          <p:nvPr/>
        </p:nvGrpSpPr>
        <p:grpSpPr>
          <a:xfrm>
            <a:off x="1609996" y="1828800"/>
            <a:ext cx="6051369" cy="603504"/>
            <a:chOff x="1828800" y="1828800"/>
            <a:chExt cx="6858000" cy="603504"/>
          </a:xfrm>
        </p:grpSpPr>
        <p:sp>
          <p:nvSpPr>
            <p:cNvPr id="6" name="Shape 4"/>
            <p:cNvSpPr/>
            <p:nvPr/>
          </p:nvSpPr>
          <p:spPr>
            <a:xfrm>
              <a:off x="1828800" y="1828800"/>
              <a:ext cx="4800600" cy="256032"/>
            </a:xfrm>
            <a:prstGeom prst="rect">
              <a:avLst/>
            </a:prstGeom>
            <a:solidFill>
              <a:srgbClr val="FFFFFF">
                <a:alpha val="12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1828800" y="1828800"/>
              <a:ext cx="4800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Generalists 70%</a:t>
              </a:r>
              <a:endParaRPr lang="en-US" sz="85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6629400" y="1828800"/>
              <a:ext cx="1371600" cy="256032"/>
            </a:xfrm>
            <a:prstGeom prst="rect">
              <a:avLst/>
            </a:prstGeom>
            <a:solidFill>
              <a:srgbClr val="FFFFFF">
                <a:alpha val="25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6629400" y="1828800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SMEs 20%</a:t>
              </a:r>
              <a:endParaRPr lang="en-US" sz="8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8001000" y="1828800"/>
              <a:ext cx="685800" cy="256032"/>
            </a:xfrm>
            <a:prstGeom prst="rect">
              <a:avLst/>
            </a:prstGeom>
            <a:solidFill>
              <a:srgbClr val="F5A623">
                <a:alpha val="35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8001000" y="1828800"/>
              <a:ext cx="685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Eng 10%</a:t>
              </a:r>
              <a:endParaRPr lang="en-US" sz="85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828800" y="2176272"/>
              <a:ext cx="2057400" cy="256032"/>
            </a:xfrm>
            <a:prstGeom prst="rect">
              <a:avLst/>
            </a:prstGeom>
            <a:solidFill>
              <a:srgbClr val="F5A623">
                <a:alpha val="7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1828800" y="2176272"/>
              <a:ext cx="2057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Sr. leaders 30%</a:t>
              </a:r>
              <a:endParaRPr lang="en-US" sz="85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3886200" y="2176272"/>
              <a:ext cx="2400300" cy="256032"/>
            </a:xfrm>
            <a:prstGeom prst="rect">
              <a:avLst/>
            </a:prstGeom>
            <a:solidFill>
              <a:srgbClr val="F5A623">
                <a:alpha val="8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3886200" y="2176272"/>
              <a:ext cx="24003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Sr. engineers 35%</a:t>
              </a:r>
              <a:endParaRPr lang="en-US" sz="85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6286500" y="2176272"/>
              <a:ext cx="1371600" cy="256032"/>
            </a:xfrm>
            <a:prstGeom prst="rect">
              <a:avLst/>
            </a:prstGeom>
            <a:solidFill>
              <a:srgbClr val="F5A623">
                <a:alpha val="55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6286500" y="2176272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 20%</a:t>
              </a:r>
              <a:endParaRPr lang="en-US" sz="8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658100" y="2176272"/>
              <a:ext cx="1028700" cy="256032"/>
            </a:xfrm>
            <a:prstGeom prst="rect">
              <a:avLst/>
            </a:prstGeom>
            <a:solidFill>
              <a:srgbClr val="F5A623">
                <a:alpha val="4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7658100" y="2176272"/>
              <a:ext cx="10287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Change 15%</a:t>
              </a:r>
              <a:endParaRPr lang="en-US" sz="850" dirty="0"/>
            </a:p>
          </p:txBody>
        </p:sp>
      </p:grpSp>
      <p:sp>
        <p:nvSpPr>
          <p:cNvPr id="21" name="Shape 19"/>
          <p:cNvSpPr/>
          <p:nvPr/>
        </p:nvSpPr>
        <p:spPr>
          <a:xfrm>
            <a:off x="457200" y="2697480"/>
            <a:ext cx="1968246" cy="1783080"/>
          </a:xfrm>
          <a:prstGeom prst="roundRect">
            <a:avLst>
              <a:gd name="adj" fmla="val 41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" y="2862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" y="3108960"/>
            <a:ext cx="16390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business leaders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3566160"/>
            <a:ext cx="16390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at C-level depth. Shape the actual problem before anyone codes. Tier-1 firms reserve this profile for sales, not delivery.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44318" y="2697480"/>
            <a:ext cx="1968246" cy="1783080"/>
          </a:xfrm>
          <a:prstGeom prst="roundRect">
            <a:avLst>
              <a:gd name="adj" fmla="val 41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08910" y="2862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08910" y="3108960"/>
            <a:ext cx="16390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engineers, senior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08910" y="3566160"/>
            <a:ext cx="16390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deploy, run. Production agents, not slides about agents. Tier-1s offshore this layer; sovereign clients can't accept that.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31436" y="2697480"/>
            <a:ext cx="1968246" cy="1783080"/>
          </a:xfrm>
          <a:prstGeom prst="roundRect">
            <a:avLst>
              <a:gd name="adj" fmla="val 41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96028" y="2862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96028" y="3108960"/>
            <a:ext cx="16390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leaders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96028" y="3566160"/>
            <a:ext cx="16390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products, not projects. Versions, telemetry, degradation, PM discipline. Almost no one staffs this role correctly.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18554" y="2697480"/>
            <a:ext cx="1968246" cy="1783080"/>
          </a:xfrm>
          <a:prstGeom prst="roundRect">
            <a:avLst>
              <a:gd name="adj" fmla="val 41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83146" y="28620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83146" y="3108960"/>
            <a:ext cx="16390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leads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83146" y="3566160"/>
            <a:ext cx="163906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 agent inside the organization. Process redesign, role redesign, adoption. The reason most pilots never reach production.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736592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57483" y="1829236"/>
            <a:ext cx="9573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$2,500-3,500</a:t>
            </a:r>
            <a:endParaRPr lang="en-US" sz="900" dirty="0">
              <a:solidFill>
                <a:srgbClr val="F5A623"/>
              </a:solidFill>
            </a:endParaRPr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E4726894-A1B9-6918-43B7-D8EA5EC79C9E}"/>
              </a:ext>
            </a:extLst>
          </p:cNvPr>
          <p:cNvSpPr/>
          <p:nvPr/>
        </p:nvSpPr>
        <p:spPr>
          <a:xfrm>
            <a:off x="579559" y="465909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these four profiles are absent from the typical Tier-1 delivery team. That's not a margin problem — it's a shape problem.</a:t>
            </a:r>
            <a:endParaRPr lang="en-US" sz="1000" dirty="0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DCA841EB-0020-F663-48F3-624AC58043C4}"/>
              </a:ext>
            </a:extLst>
          </p:cNvPr>
          <p:cNvSpPr/>
          <p:nvPr/>
        </p:nvSpPr>
        <p:spPr>
          <a:xfrm>
            <a:off x="7757483" y="2233314"/>
            <a:ext cx="9573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$1,500-1,700 </a:t>
            </a:r>
            <a:r>
              <a:rPr lang="en-US" sz="7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(with offshore)</a:t>
            </a:r>
            <a:endParaRPr lang="en-US" sz="900" dirty="0">
              <a:solidFill>
                <a:srgbClr val="F5A623"/>
              </a:solidFill>
            </a:endParaRPr>
          </a:p>
        </p:txBody>
      </p:sp>
      <p:sp>
        <p:nvSpPr>
          <p:cNvPr id="42" name="Text 36">
            <a:extLst>
              <a:ext uri="{FF2B5EF4-FFF2-40B4-BE49-F238E27FC236}">
                <a16:creationId xmlns:a16="http://schemas.microsoft.com/office/drawing/2014/main" id="{CAEB6B66-8EAD-AC50-1073-39A1E0E5EDD7}"/>
              </a:ext>
            </a:extLst>
          </p:cNvPr>
          <p:cNvSpPr/>
          <p:nvPr/>
        </p:nvSpPr>
        <p:spPr>
          <a:xfrm>
            <a:off x="7757482" y="1572768"/>
            <a:ext cx="9573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Pay</a:t>
            </a:r>
            <a:endParaRPr lang="en-US" sz="900" b="1" dirty="0">
              <a:solidFill>
                <a:srgbClr val="F5A62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5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310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OFFERINGS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value propositions — built for what clients actually </a:t>
            </a: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ship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933956" cy="2377440"/>
          </a:xfrm>
          <a:prstGeom prst="roundRect">
            <a:avLst>
              <a:gd name="adj" fmla="val 378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2167128"/>
            <a:ext cx="457200" cy="457200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38" y="2269998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5296" y="2258568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AGENTIC AI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" y="2834640"/>
            <a:ext cx="1476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transformation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85800" y="3474720"/>
            <a:ext cx="1476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Reimagining how the organization runs — with agents at the core of operations, decisions, and CX.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85800" y="4069080"/>
            <a:ext cx="14767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CEO, COO, CXO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55748" y="1965960"/>
            <a:ext cx="1933956" cy="2377440"/>
          </a:xfrm>
          <a:prstGeom prst="roundRect">
            <a:avLst>
              <a:gd name="adj" fmla="val 378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756916" y="2167128"/>
            <a:ext cx="457200" cy="457200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786" y="2269998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23844" y="2258568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LEGACY MOD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2784348" y="2834640"/>
            <a:ext cx="1476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and modernization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784348" y="3474720"/>
            <a:ext cx="1476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Spec-from-legacy and forward engineering. On-prem capable for sovereign-data clients.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784348" y="4069080"/>
            <a:ext cx="14767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CIO, CTO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654296" y="1965960"/>
            <a:ext cx="1933956" cy="2377440"/>
          </a:xfrm>
          <a:prstGeom prst="roundRect">
            <a:avLst>
              <a:gd name="adj" fmla="val 378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855464" y="2167128"/>
            <a:ext cx="457200" cy="457200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8334" y="2269998"/>
            <a:ext cx="251460" cy="2514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422392" y="2258568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DATA AND GOVERNANCE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882896" y="2834640"/>
            <a:ext cx="1476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that make AI trustworthy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882896" y="3474720"/>
            <a:ext cx="1476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modernization, lineage, masters, AI-grade governance. Activation, not decks.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882896" y="4069080"/>
            <a:ext cx="14767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CDO, CRO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6752844" y="1965960"/>
            <a:ext cx="1933956" cy="2377440"/>
          </a:xfrm>
          <a:prstGeom prst="roundRect">
            <a:avLst>
              <a:gd name="adj" fmla="val 378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954012" y="2167128"/>
            <a:ext cx="457200" cy="457200"/>
          </a:xfrm>
          <a:prstGeom prst="ellipse">
            <a:avLst/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6882" y="2269998"/>
            <a:ext cx="251460" cy="2514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20940" y="2258568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AI PRODUCT STUDIO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981444" y="2834640"/>
            <a:ext cx="1476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MVP in 90 days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6981444" y="3474720"/>
            <a:ext cx="14767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Productized AI solutions for repeatable vertical use cases. Reusable IP that compounds margin.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6981444" y="4069080"/>
            <a:ext cx="14767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CXO, business heads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457200" y="4736592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603504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offering stands alone, sells together. Most engagements anchor in one and pull two more behind it.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5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310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WHERE WE PLAY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anchor accounts </a:t>
            </a: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next twelve months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56232" y="162763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56232" y="1627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55264" y="1627632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55264" y="16276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5340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AI ORIGINATED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5340096" cy="0"/>
          </a:xfrm>
          <a:prstGeom prst="line">
            <a:avLst/>
          </a:prstGeom>
          <a:noFill/>
          <a:ln w="635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71616" y="205740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INSIGHTS BOOK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71616" y="2258568"/>
            <a:ext cx="2615184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34456" y="2011680"/>
            <a:ext cx="0" cy="246888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1252728" cy="2194560"/>
          </a:xfrm>
          <a:prstGeom prst="roundRect">
            <a:avLst>
              <a:gd name="adj" fmla="val 583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5216" y="244144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Tasama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52728" y="2415326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52728" y="241532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85216" y="2971800"/>
            <a:ext cx="996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PIF shared services. Digital factory, agentic shared services, data foundations.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585216" y="3977640"/>
            <a:ext cx="996696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5216" y="402336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5–6M SAR (2026)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" y="4233672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$5M+ expansion (2027)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819656" y="2331720"/>
            <a:ext cx="1252728" cy="2194560"/>
          </a:xfrm>
          <a:prstGeom prst="roundRect">
            <a:avLst>
              <a:gd name="adj" fmla="val 583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947672" y="244144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Municipality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15184" y="2415326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15184" y="241532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947672" y="2971800"/>
            <a:ext cx="996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AI strategy activation. Agentic platform plus 18 use cases over 12 months.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1947672" y="3977640"/>
            <a:ext cx="996696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947672" y="402336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5M+ AED (2026)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47672" y="4233672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$10M+ over 3 years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182112" y="2331720"/>
            <a:ext cx="1252728" cy="2194560"/>
          </a:xfrm>
          <a:prstGeom prst="roundRect">
            <a:avLst>
              <a:gd name="adj" fmla="val 583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10128" y="244144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977640" y="2415326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977640" y="241532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310128" y="2971800"/>
            <a:ext cx="996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Siebel CRM legacy modernization, code-to-spec, on-prem. With Thoughtworks AI/works.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3310128" y="3977640"/>
            <a:ext cx="996696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10128" y="402336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 POC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10128" y="4233672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2-yr contract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44568" y="2331720"/>
            <a:ext cx="1252728" cy="2194560"/>
          </a:xfrm>
          <a:prstGeom prst="roundRect">
            <a:avLst>
              <a:gd name="adj" fmla="val 583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72584" y="244144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PIF (direct)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40096" y="2415326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F5A623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340096" y="241532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672584" y="2971800"/>
            <a:ext cx="996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Inside-track via Tasama wedge. Vision Portfolio's six ecosystems and giga-projects.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4672584" y="3977640"/>
            <a:ext cx="996696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72584" y="402336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2–3 expansion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72584" y="4233672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anchor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071616" y="2331720"/>
            <a:ext cx="1252728" cy="2194560"/>
          </a:xfrm>
          <a:prstGeom prst="roundRect">
            <a:avLst>
              <a:gd name="adj" fmla="val 583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199632" y="244144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Tahakom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67144" y="2415326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867144" y="241532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199632" y="2971800"/>
            <a:ext cx="996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PIF subsidiary. AI-enabled public safety and smart mobility at national scale.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6199632" y="3977640"/>
            <a:ext cx="996696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199632" y="402336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Insights' largest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199632" y="4233672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offerings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434072" y="2331720"/>
            <a:ext cx="1252728" cy="2194560"/>
          </a:xfrm>
          <a:prstGeom prst="roundRect">
            <a:avLst>
              <a:gd name="adj" fmla="val 583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562088" y="244144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NHC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229600" y="2415326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229600" y="241532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562088" y="2971800"/>
            <a:ext cx="996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arm of MoMRAH. 400+ services, 19M+ users. Baladi digital twin.</a:t>
            </a:r>
            <a:endParaRPr lang="en-US" sz="820" dirty="0"/>
          </a:p>
        </p:txBody>
      </p:sp>
      <p:sp>
        <p:nvSpPr>
          <p:cNvPr id="61" name="Shape 59"/>
          <p:cNvSpPr/>
          <p:nvPr/>
        </p:nvSpPr>
        <p:spPr>
          <a:xfrm>
            <a:off x="7562088" y="3977640"/>
            <a:ext cx="996696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562088" y="4023360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+ municipal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562088" y="4233672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 entry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57200" y="4736592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03504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anchor accounts. Four originated by Maven AI leadership, two extending from the existing Insights book. Tahakom protects revenue and opens all four offerings; NHC opens housing and municipal verticals. None speculative.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5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310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HOW WE WIN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levers the incumbents </a:t>
            </a: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pull together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32204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3220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632204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wedge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80360" y="1751076"/>
            <a:ext cx="0" cy="356616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35808" y="163220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structure delivers economics the Tier-1 cost base cannot match — without compromise on seniority of work.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45436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4543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345436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delivery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80360" y="2464308"/>
            <a:ext cx="0" cy="356616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35808" y="234543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and principals on every engagement, not behind it. Clients buy the people they meet.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58668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05866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05866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value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80360" y="3177540"/>
            <a:ext cx="0" cy="356616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35808" y="305866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Three-day scope, three-week prototype, 90 days MVP. Mobilize while a Tier-1 is still scoping the SOW.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719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7719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77190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leverage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880360" y="3890772"/>
            <a:ext cx="0" cy="356616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035808" y="37719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Best-of-breed platforms (Thoughtworks AI/works, hyperscalers, data partners) without vendor lock-in. Right tool, every time.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36592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3504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Tier-1s have any one of these. None can offer all four — their cost structures, partner economics and delivery models won't allow it.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5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310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PLATFORM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Platform-agnostic by design — we help </a:t>
            </a: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pick the stack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 deliver on it.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04622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075688"/>
            <a:ext cx="2491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platforms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94660" y="21122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3589020" cy="0"/>
          </a:xfrm>
          <a:prstGeom prst="line">
            <a:avLst/>
          </a:prstGeom>
          <a:noFill/>
          <a:ln w="6350">
            <a:solidFill>
              <a:srgbClr val="F5A62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2587752"/>
            <a:ext cx="3589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Studio  ·  Google Vertex AI Agent Builder  ·  LangGraph / LangChain  ·  CrewAI  ·  Anthropic Claude  ·  Sovereign models (Jais, Falcon)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0580" y="1874520"/>
            <a:ext cx="404622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9180" y="2075688"/>
            <a:ext cx="2491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and modernization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78040" y="21122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SOFTWARE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69180" y="2468880"/>
            <a:ext cx="3589020" cy="0"/>
          </a:xfrm>
          <a:prstGeom prst="line">
            <a:avLst/>
          </a:prstGeom>
          <a:noFill/>
          <a:ln w="6350">
            <a:solidFill>
              <a:srgbClr val="F5A62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69180" y="2587752"/>
            <a:ext cx="3589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Thoughtworks AI/works  ·  GitHub Copilot Enterprise  ·  Cursor  ·  Devin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69180" y="2898648"/>
            <a:ext cx="3589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partner: Thoughtworks AI/works — on-prem capable for sovereign clients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404622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447288"/>
            <a:ext cx="2491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infrastructure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94660" y="34838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AT SCALE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5800" y="3840480"/>
            <a:ext cx="3589020" cy="0"/>
          </a:xfrm>
          <a:prstGeom prst="line">
            <a:avLst/>
          </a:prstGeom>
          <a:noFill/>
          <a:ln w="6350">
            <a:solidFill>
              <a:srgbClr val="F5A62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3959352"/>
            <a:ext cx="3589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·  Microsoft Azure  ·  Google Cloud  ·  G42 sovereign cloud  ·  stc cloud  ·  On-prem (NVIDIA, Dell)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40580" y="3246120"/>
            <a:ext cx="404622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69180" y="3447288"/>
            <a:ext cx="2491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governance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10251" y="3483864"/>
            <a:ext cx="1593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FOUNDATIONS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69180" y="3840480"/>
            <a:ext cx="3589020" cy="0"/>
          </a:xfrm>
          <a:prstGeom prst="line">
            <a:avLst/>
          </a:prstGeom>
          <a:noFill/>
          <a:ln w="6350">
            <a:solidFill>
              <a:srgbClr val="F5A62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69180" y="3959352"/>
            <a:ext cx="3589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·  Databricks  ·  Informatica  ·  Cloudera  ·  Collibra  ·  Unifi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736592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AI integrates whatever wins for the client — our economics aren't tied to any vendor's, which is why our advice isn't either.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5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310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OPERATING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core leveraging four rings of capability — </a:t>
            </a: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by design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947672" cy="2423160"/>
          </a:xfrm>
          <a:prstGeom prst="roundRect">
            <a:avLst>
              <a:gd name="adj" fmla="val 3756"/>
            </a:avLst>
          </a:prstGeom>
          <a:solidFill>
            <a:srgbClr val="F5A623">
              <a:alpha val="12000"/>
            </a:srgbClr>
          </a:solidFill>
          <a:ln w="9525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216712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246888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108960"/>
            <a:ext cx="1545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delivery and account leadership. On every engagement.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3977640"/>
            <a:ext cx="1545336" cy="0"/>
          </a:xfrm>
          <a:prstGeom prst="line">
            <a:avLst/>
          </a:prstGeom>
          <a:noFill/>
          <a:ln w="635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402336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2 FTE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51176" y="1965960"/>
            <a:ext cx="1947672" cy="2423160"/>
          </a:xfrm>
          <a:prstGeom prst="roundRect">
            <a:avLst>
              <a:gd name="adj" fmla="val 375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52344" y="216712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52344" y="246888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hires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52344" y="3108960"/>
            <a:ext cx="1545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 + Data and Governance lead. Agentic AI  engineers as we scale. Technical profiles only for Y1.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52344" y="3977640"/>
            <a:ext cx="1545336" cy="0"/>
          </a:xfrm>
          <a:prstGeom prst="line">
            <a:avLst/>
          </a:prstGeom>
          <a:noFill/>
          <a:ln w="635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52344" y="402336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— 4 to 6 FTE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45152" y="1965960"/>
            <a:ext cx="1947672" cy="2423160"/>
          </a:xfrm>
          <a:prstGeom prst="roundRect">
            <a:avLst>
              <a:gd name="adj" fmla="val 375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216712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46888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Insights bench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1545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Advisory, PMO, change, CX, people analytics. Surge on demand.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3977640"/>
            <a:ext cx="1545336" cy="0"/>
          </a:xfrm>
          <a:prstGeom prst="line">
            <a:avLst/>
          </a:prstGeom>
          <a:noFill/>
          <a:ln w="635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402336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consultants available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39128" y="1965960"/>
            <a:ext cx="1947672" cy="2423160"/>
          </a:xfrm>
          <a:prstGeom prst="roundRect">
            <a:avLst>
              <a:gd name="adj" fmla="val 375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40296" y="216712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0296" y="246888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(On/Off Shore) Partners &amp; contractors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0296" y="3108960"/>
            <a:ext cx="15453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Thoughtworks for platform-IP work. Vetted contractor pool for surge specialization.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40296" y="3977640"/>
            <a:ext cx="1545336" cy="0"/>
          </a:xfrm>
          <a:prstGeom prst="line">
            <a:avLst/>
          </a:prstGeom>
          <a:noFill/>
          <a:ln w="635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40296" y="402336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— pay-per-engagement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736592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3504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by design. Every dollar of revenue requires a fraction of the headcount of a Tier-1 — and most of it is variable.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5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310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RISKS AND MITIGATIONS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wrong, </a:t>
            </a: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we manage it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9344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09344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6824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Founders' transition from PS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19568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Non-compete overlap, client allocation, perceived flight risk.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98848" y="1609344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1609344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5A623">
              <a:alpha val="12000"/>
            </a:srgbClr>
          </a:solidFill>
          <a:ln w="9525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032" y="1682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28032" y="1901952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exits, pre-agreed account and IP boundaries, navigated non-compete with counsel.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340864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4140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scarcity in agentic AI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26883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agentic engineers in GCC are scarce and expensive.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98848" y="2340864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2340864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5A623">
              <a:alpha val="12000"/>
            </a:srgbClr>
          </a:solidFill>
          <a:ln w="9525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28032" y="24140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28032" y="2633472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Thoughtworks for surge, Sanad's network for data, named-contractor pool, remote-first hires.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072384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072384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1455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Insights cannibalization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0120" y="34198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conflicts, intercompany pricing, brand confusion in market.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98848" y="3072384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3072384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5A623">
              <a:alpha val="12000"/>
            </a:srgbClr>
          </a:solidFill>
          <a:ln w="9525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28032" y="31455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28032" y="3364992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charge-back model, dedicated Maven AI delivery accountability, separate sales motion.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803904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3803904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38770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rate dilution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60120" y="41513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Thoughtworks at Accenture-level rates squeezing margins.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98848" y="3803904"/>
            <a:ext cx="146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63440" y="3803904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5A623">
              <a:alpha val="12000"/>
            </a:srgbClr>
          </a:solidFill>
          <a:ln w="9525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28032" y="38770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28032" y="4096512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 only on platform-IP-required work. Surround with bench plus hires for everything else.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736592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3504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has a named mitigation. None are deal-breakers — but all need explicit governance from day one.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5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310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FIRST 90 DAYS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stand up to  </a:t>
            </a: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$2M+ pipeline 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 90 days.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5486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755648" y="173736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98848" y="173736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242048" y="1737360"/>
            <a:ext cx="146304" cy="14630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633472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22199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4414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2898648"/>
            <a:ext cx="54864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8096" y="2867295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agreement signed. Legal structures finalized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8368" y="3191256"/>
            <a:ext cx="54864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8096" y="3159903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Founders' phased exit from PS finalized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58368" y="3483864"/>
            <a:ext cx="54864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8096" y="3452511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intercompany agreement signed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58368" y="3776472"/>
            <a:ext cx="54864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8096" y="3745119"/>
            <a:ext cx="19790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branding and pitch material are developed (ppts + prototypes)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2267712" cy="0"/>
          </a:xfrm>
          <a:prstGeom prst="line">
            <a:avLst/>
          </a:prstGeom>
          <a:noFill/>
          <a:ln w="6350">
            <a:solidFill>
              <a:srgbClr val="F5A62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06908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40080" y="4224528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 and agreements in place.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255264" y="2057400"/>
            <a:ext cx="2633472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38144" y="222199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38144" y="24414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INTRODUCTION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56432" y="2898648"/>
            <a:ext cx="54864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66160" y="2860764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Tasama, DM, STC and PIF conversations initiated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56432" y="3191256"/>
            <a:ext cx="54864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66160" y="3159903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with Maven’s existing key accounts initiated (</a:t>
            </a:r>
            <a:r>
              <a:rPr lang="en-US" sz="850" dirty="0" err="1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Tahakom</a:t>
            </a:r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NHC)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56432" y="3483864"/>
            <a:ext cx="54864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66160" y="3452511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Thoughtworks agreement signed for specific target accounts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56432" y="3776472"/>
            <a:ext cx="54864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66160" y="3745119"/>
            <a:ext cx="20665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pitch material (ppt + prototypes) are market tested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38144" y="4023360"/>
            <a:ext cx="2267712" cy="0"/>
          </a:xfrm>
          <a:prstGeom prst="line">
            <a:avLst/>
          </a:prstGeom>
          <a:noFill/>
          <a:ln w="6350">
            <a:solidFill>
              <a:srgbClr val="F5A62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38144" y="406908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438144" y="4224528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client meetings and start of pipeline build.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6053328" y="2057400"/>
            <a:ext cx="2633472" cy="2468880"/>
          </a:xfrm>
          <a:prstGeom prst="roundRect">
            <a:avLst>
              <a:gd name="adj" fmla="val 2963"/>
            </a:avLst>
          </a:prstGeom>
          <a:solidFill>
            <a:srgbClr val="F5A623">
              <a:alpha val="12000"/>
            </a:srgbClr>
          </a:solidFill>
          <a:ln w="9525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36208" y="222199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36208" y="24414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MOMENTUM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54496" y="2898648"/>
            <a:ext cx="54864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64224" y="2867295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is generated with key target accounts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54496" y="3191256"/>
            <a:ext cx="54864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64224" y="3159903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client POC(s) are agreed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54496" y="3483864"/>
            <a:ext cx="54864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64224" y="344598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partnerships / contractors are onboarded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254496" y="3776472"/>
            <a:ext cx="54864" cy="54864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364224" y="3745119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hiring plan finalized;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36208" y="4023360"/>
            <a:ext cx="2267712" cy="0"/>
          </a:xfrm>
          <a:prstGeom prst="line">
            <a:avLst/>
          </a:prstGeom>
          <a:noFill/>
          <a:ln w="6350">
            <a:solidFill>
              <a:srgbClr val="F5A62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236208" y="406908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236208" y="4224528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of $2M+ achieved.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457200" y="4736592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03504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days from agreement to sizeable pipeline, building on existing client relationships and warm client agendas.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5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310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ASKS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move from concept to </a:t>
            </a: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venture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5A623">
              <a:alpha val="12000"/>
            </a:srgbClr>
          </a:solidFill>
          <a:ln w="9525">
            <a:solidFill>
              <a:srgbClr val="F5A62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Green-light Maven AI to proceed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92040" y="1901952"/>
            <a:ext cx="0" cy="219456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783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in principle from this group to move from concept to incorporation.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3134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3591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sheet structure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2432304"/>
            <a:ext cx="0" cy="219456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23134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split, governance, deadlock mechanism, IP attribution, exit and buyout.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8437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8895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and salary subsidy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2962656"/>
            <a:ext cx="0" cy="219456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0" y="28437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12 months of partner salaries, founding hires, and operating runway.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37413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3741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4198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license terms with Maven Insights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3493008"/>
            <a:ext cx="0" cy="219456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33741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rights, intercompany rates, bench access protocols, sales coordination.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90448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3904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3950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hire authorization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4023360"/>
            <a:ext cx="0" cy="219456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0" y="39044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Sanad as Data and Governance lead, plus two to three senior delivery hires.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736592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3504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not blessings. We leave this room with a yes, a no, or a sharper question we can answer next week.</a:t>
            </a:r>
            <a:endParaRPr lang="en-US" sz="10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05FB983-AC86-EFED-4E7C-1A1960B1AA96}"/>
              </a:ext>
            </a:extLst>
          </p:cNvPr>
          <p:cNvSpPr/>
          <p:nvPr/>
        </p:nvSpPr>
        <p:spPr>
          <a:xfrm>
            <a:off x="8717280" y="3072384"/>
            <a:ext cx="966216" cy="13563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????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5A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828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76656" y="31089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DELIVERY PLAYBOOK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choice = client cloud </a:t>
            </a: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delivery mode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questions determine the stack: where does the client run, and do we hand over a node-and-flow tool that less technical teams can extend?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Azure-native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6052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GCP-native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9224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/ sovereign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0" y="2267712"/>
            <a:ext cx="6858000" cy="0"/>
          </a:xfrm>
          <a:prstGeom prst="line">
            <a:avLst/>
          </a:prstGeom>
          <a:noFill/>
          <a:ln w="6350">
            <a:solidFill>
              <a:srgbClr val="F5A62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4963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7706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build, deploy, run. Client gets agents, not tooling.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0" y="242316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93392" y="256032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LangChain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93392" y="283464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Azure OpenAI Service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93392" y="306324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code on Azure infra. We build, deploy, maintain.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60520" y="242316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25112" y="256032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LangChain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25112" y="283464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Vertex AI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25112" y="306324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GCP-native models and operations.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92240" y="242316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56832" y="256032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self-hosted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56832" y="283464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open-weight models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56832" y="306324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Llama, Mistral, Jais on client infra. Or watsonx for IBM-aligned.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359359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HANDOVER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8679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9F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node-and-flow tool client BAs extend without us.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0" y="35204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993392" y="365760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Studio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93392" y="393192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Azure AI Foundry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993392" y="416052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builder. BAs extend post-handover. Microsoft 365 native.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60520" y="35204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25112" y="365760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Agent Builder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25112" y="393192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Agentspace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25112" y="416052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visual builder. Citizen-dev friendly on GCP.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492240" y="352044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5A623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56832" y="365760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 (self-hosted)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56832" y="3931920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LangGraph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56832" y="416052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flow UI on client infra. Or watsonx Orchestrate for IBM shops.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736592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03504" y="4663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is a delivery decision, not an architectural commitment. We meet the client where they run — and where they want to extend.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2563</Words>
  <Application>Microsoft Office PowerPoint</Application>
  <PresentationFormat>On-screen Show (16:9)</PresentationFormat>
  <Paragraphs>345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Maven AI — Strategic Concept</dc:title>
  <dc:subject>PptxGenJS Presentation</dc:subject>
  <dc:creator>Maven AI</dc:creator>
  <cp:lastModifiedBy>Gokhan Guney</cp:lastModifiedBy>
  <cp:revision>6</cp:revision>
  <dcterms:created xsi:type="dcterms:W3CDTF">2026-05-01T13:32:52Z</dcterms:created>
  <dcterms:modified xsi:type="dcterms:W3CDTF">2026-05-02T11:51:27Z</dcterms:modified>
</cp:coreProperties>
</file>